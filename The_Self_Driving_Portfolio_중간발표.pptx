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" cy="402336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200" b="1">
                <a:solidFill>
                  <a:srgbClr val="60A5FA"/>
                </a:solidFill>
                <a:latin typeface="Malgun Gothic"/>
              </a:defRPr>
            </a:pPr>
            <a:r>
              <a:t>INTERIM PROJECT REPORT  |  중간발표 보고서</a:t>
            </a:r>
          </a:p>
          <a:p>
            <a:pPr>
              <a:spcAft>
                <a:spcPts val="1000"/>
              </a:spcAft>
              <a:defRPr sz="3800" b="1">
                <a:solidFill>
                  <a:srgbClr val="FFFFFF"/>
                </a:solidFill>
                <a:latin typeface="Malgun Gothic"/>
              </a:defRPr>
            </a:pPr>
            <a:r>
              <a:t>The Self-Driving Portfolio</a:t>
            </a:r>
          </a:p>
          <a:p>
            <a:pPr>
              <a:spcAft>
                <a:spcPts val="800"/>
              </a:spcAft>
              <a:defRPr sz="1900" b="1">
                <a:solidFill>
                  <a:srgbClr val="E2E8F0"/>
                </a:solidFill>
                <a:latin typeface="Malgun Gothic"/>
              </a:defRPr>
            </a:pPr>
            <a:r>
              <a:t>기관 투자자를 위한 다중 자율 에이전트 기반 전략적 자산배분(SAA) 시스템</a:t>
            </a:r>
          </a:p>
          <a:p>
            <a:pPr>
              <a:defRPr sz="1400">
                <a:solidFill>
                  <a:srgbClr val="94A3B8"/>
                </a:solidFill>
                <a:latin typeface="Malgun Gothic"/>
              </a:defRPr>
            </a:pPr>
            <a:r>
              <a:t>분석 실행(Execution)에서 거버넌스 감독(Oversight)으로의 패러다임 전환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526280"/>
            <a:ext cx="9966960" cy="1005840"/>
          </a:xfrm>
          <a:prstGeom prst="rect">
            <a:avLst/>
          </a:prstGeom>
          <a:solidFill>
            <a:srgbClr val="0C2A42"/>
          </a:solidFill>
          <a:ln>
            <a:solidFill>
              <a:srgbClr val="1E4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681728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FFFFF"/>
                </a:solidFill>
                <a:latin typeface="Malgun Gothic"/>
              </a:defRPr>
            </a:pPr>
            <a:r>
              <a:t>• 기반 논문: Ang, Azimbayev, &amp; Kim (2026), Columbia University &amp; Altbridge</a:t>
            </a:r>
          </a:p>
          <a:p>
            <a:pPr>
              <a:defRPr sz="1150">
                <a:solidFill>
                  <a:srgbClr val="BAE6FD"/>
                </a:solidFill>
                <a:latin typeface="Malgun Gothic"/>
              </a:defRPr>
            </a:pPr>
            <a:r>
              <a:t>• 구현 범위: 50개 에이전트 6단계 파이프라인 백엔드(FastAPI) 및 거버넌스 웹 대시보드(React)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50" b="1">
                <a:solidFill>
                  <a:srgbClr val="0052CC"/>
                </a:solidFill>
                <a:latin typeface="Malgun Gothic"/>
              </a:defRPr>
            </a:pPr>
            <a:r>
              <a:t>EXECUTIVE SUMMARY  |  논문 4대 핵심 통찰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인간의 인지 한계 극복 및 거버넌스 중심의 자율 자산배분 패러다임 제시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Ang, Azimbayev, &amp;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2651760" cy="41605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371600"/>
            <a:ext cx="2651760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572768"/>
            <a:ext cx="23591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1C2C"/>
                </a:solidFill>
                <a:latin typeface="Malgun Gothic"/>
              </a:defRPr>
            </a:pPr>
            <a:r>
              <a:t>01  인지 한계 극복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Scale &amp; Parallelism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▪ 기존 병목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  데이터 부족이 아닌 인간의 제한된 주의력(Rational Inattention)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▪ 병렬 확장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  50개 전문 에이전트의 18개 자산·21개 모델 동시 연산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▪ 주기 단축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  수주 걸리던 분기 단위 작업을 수분 내 실시간 실행으로 압축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2" y="1371600"/>
            <a:ext cx="2651760" cy="41605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1371600"/>
            <a:ext cx="2651760" cy="73152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1572768"/>
            <a:ext cx="23591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CC"/>
                </a:solidFill>
                <a:latin typeface="Malgun Gothic"/>
              </a:defRPr>
            </a:pPr>
            <a:r>
              <a:t>02  구조적 심의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Deliberation &amp; Voting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▪ 역할 분업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  Python(정밀 수치 연산)과 LLM(해석·판단)의 엄격한 분리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▪ 상호 검증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  에이전트 간 42건 교차 피어 리뷰(Intra/Inter) 수행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▪ 집단 지성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  수정 보르다 투표와 정량 지표 결합으로 최적안 도출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371600"/>
            <a:ext cx="2651760" cy="41605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371600"/>
            <a:ext cx="265176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572768"/>
            <a:ext cx="23591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Malgun Gothic"/>
              </a:defRPr>
            </a:pPr>
            <a:r>
              <a:t>03  소수의견과 탐색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Dissent &amp; Discovery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▪ 적대적 분산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  투표 최하위(-36표) 직교 모델을 2.7% 편입해 사각지대 방어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▪ 자율 발굴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  리서처 에이전트의 '최대 엔트로피' 신규 기법 발굴 및 채택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▪ 자가 학습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  메타 에이전트의 예측 오차 분석 및 코드·프롬프트 자율 개선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7696" y="1371600"/>
            <a:ext cx="2651760" cy="41605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97696" y="1371600"/>
            <a:ext cx="265176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572768"/>
            <a:ext cx="23591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5309"/>
                </a:solidFill>
                <a:latin typeface="Malgun Gothic"/>
              </a:defRPr>
            </a:pPr>
            <a:r>
              <a:t>04  거버넌스 격상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IPS Oversight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▪ 역할 전환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  단순 모델 실행자에서 투자 정책 설계자(Architect)로 승격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▪ 경계 통제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  자율주행 ODD에 대응하는 투자원칙보고서(IPS) 기반 구속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▪ 설명 가능성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  전 과정 자연어 감사 증적(Board Memo)으로 수탁자 책임 충족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806440"/>
            <a:ext cx="11094415" cy="4754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806440"/>
            <a:ext cx="91440" cy="47548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907024"/>
            <a:ext cx="1069848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KEY TAKEAWAY  |  AI 에이전트를 통한 분석 대역폭 확장 및 인간 전문가의 고차원적 거버넌스 역량 집중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50" b="1">
                <a:solidFill>
                  <a:srgbClr val="0052CC"/>
                </a:solidFill>
                <a:latin typeface="Malgun Gothic"/>
              </a:defRPr>
            </a:pPr>
            <a:r>
              <a:t>1. 연구 배경 및 문제 정의  |  As-Is vs. To-Be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전통적 인력 중심 자산배분의 구조적 제약을 자율 에이전트 협업 체계로 전환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Ang, Azimbayev, &amp;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371600"/>
          <a:ext cx="11094413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749039"/>
                <a:gridCol w="3749039"/>
                <a:gridCol w="1584655"/>
              </a:tblGrid>
              <a:tr h="693420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비교 영역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전통적 자산배분 (As-Is)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자율주행 포트폴리오 (To-Be)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핵심 효과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>
                        <a:defRPr sz="1050" b="1">
                          <a:solidFill>
                            <a:srgbClr val="051C2C"/>
                          </a:solidFill>
                          <a:latin typeface="Malgun Gothic"/>
                        </a:defRPr>
                      </a:pPr>
                      <a:r>
                        <a:t>분석 규모 (Scale)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• 애널리스트당 10~20개 자산 커버 한계</a:t>
                      </a:r>
                      <a:br/>
                      <a:r>
                        <a:t>• CMA 산출에 수일~수주 소요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• 18개 자산군 × 7개 CMA 모델 병렬 산출</a:t>
                      </a:r>
                      <a:br/>
                      <a:r>
                        <a:t>• 수분 내 전 자산군 분석 완료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분석 대역폭</a:t>
                      </a:r>
                      <a:br/>
                      <a:r>
                        <a:t>10배 이상 확장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>
                        <a:defRPr sz="1050" b="1">
                          <a:solidFill>
                            <a:srgbClr val="051C2C"/>
                          </a:solidFill>
                          <a:latin typeface="Malgun Gothic"/>
                        </a:defRPr>
                      </a:pPr>
                      <a:r>
                        <a:t>최적화 기법 (Method)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• 시간 제약상 단일 기법(MVO) 의존</a:t>
                      </a:r>
                      <a:br/>
                      <a:r>
                        <a:t>• 대안 모델 간 체계적 비교 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• 4대 학파 21개 최적화 모델 동시 경쟁</a:t>
                      </a:r>
                      <a:br/>
                      <a:r>
                        <a:t>• 리서처 에이전트의 신규 기법 자율 탐색</a:t>
                      </a:r>
                    </a:p>
                  </a:txBody>
                  <a:tcPr anchor="ctr"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단일 모델</a:t>
                      </a:r>
                      <a:br/>
                      <a:r>
                        <a:t>편향 해소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>
                        <a:defRPr sz="1050" b="1">
                          <a:solidFill>
                            <a:srgbClr val="051C2C"/>
                          </a:solidFill>
                          <a:latin typeface="Malgun Gothic"/>
                        </a:defRPr>
                      </a:pPr>
                      <a:r>
                        <a:t>심의 프로토콜 (Review)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• 분기별 위원회 수 시간 구두 회의</a:t>
                      </a:r>
                      <a:br/>
                      <a:r>
                        <a:t>• 정성적 타협 및 차기 회의까지 비중 고정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• 42건 무작위 교차 피어 리뷰 실시</a:t>
                      </a:r>
                      <a:br/>
                      <a:r>
                        <a:t>• 수정 보르다 투표 + CRO 정량 점수 결합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재현 가능한</a:t>
                      </a:r>
                      <a:br/>
                      <a:r>
                        <a:t>집단 지성 합의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>
                        <a:defRPr sz="1050" b="1">
                          <a:solidFill>
                            <a:srgbClr val="051C2C"/>
                          </a:solidFill>
                          <a:latin typeface="Malgun Gothic"/>
                        </a:defRPr>
                      </a:pPr>
                      <a:r>
                        <a:t>감사 증적 (Audit Trail)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• 최종 선정된 단일 결과 중심 보고</a:t>
                      </a:r>
                      <a:br/>
                      <a:r>
                        <a:t>• 기각된 대안 및 반대 논리 유실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• 전 에이전트 판단 근거 및 소수의견 기록</a:t>
                      </a:r>
                      <a:br/>
                      <a:r>
                        <a:t>• JSON 스키마 및 마크다운 메모 자동 보존</a:t>
                      </a:r>
                    </a:p>
                  </a:txBody>
                  <a:tcPr anchor="ctr"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수탁자 책임</a:t>
                      </a:r>
                      <a:br/>
                      <a:r>
                        <a:t>완벽 충족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>
                        <a:defRPr sz="1050" b="1">
                          <a:solidFill>
                            <a:srgbClr val="051C2C"/>
                          </a:solidFill>
                          <a:latin typeface="Malgun Gothic"/>
                        </a:defRPr>
                      </a:pPr>
                      <a:r>
                        <a:t>인간의 역할 (Control)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• 수익률 추정 및 파라미터 직접 조작</a:t>
                      </a:r>
                      <a:br/>
                      <a:r>
                        <a:t>• 낮은 추상화 단계의 수작업 (L0~L2)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• 투자원칙보고서(IPS) 제정 및 최종 승인</a:t>
                      </a:r>
                      <a:br/>
                      <a:r>
                        <a:t>• 목표 지향적 거버넌스 감독 (SAE L3~L4)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인간 역할의</a:t>
                      </a:r>
                      <a:br/>
                      <a:r>
                        <a:t>아키텍트 격상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5806440"/>
            <a:ext cx="11094415" cy="4754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806440"/>
            <a:ext cx="91440" cy="47548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907024"/>
            <a:ext cx="1069848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KEY TAKEAWAY  |  물리적 시간 제약으로 불가능했던 '다중 방법론 경쟁 및 교차 검증'의 자동화 달성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50" b="1">
                <a:solidFill>
                  <a:srgbClr val="0052CC"/>
                </a:solidFill>
                <a:latin typeface="Malgun Gothic"/>
              </a:defRPr>
            </a:pPr>
            <a:r>
              <a:t>2. 시스템 아키텍처  |  6-Stage Pipeline &amp; Agent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IPS 제약 하에 작동하는 6단계 에이전트 파이프라인 및 4대 내부 모듈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Ang, Azimbayev, &amp;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1773936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353312"/>
            <a:ext cx="1773936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499616"/>
            <a:ext cx="1554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1C2C"/>
                </a:solidFill>
                <a:latin typeface="Malgun Gothic"/>
              </a:defRPr>
            </a:pPr>
            <a:r>
              <a:t>STEP 1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거시 국면 분류</a:t>
            </a:r>
            <a:br/>
            <a:r>
              <a:t>(Macro Agent)</a:t>
            </a:r>
          </a:p>
          <a:p>
            <a:pPr>
              <a:lnSpc>
                <a:spcPct val="130000"/>
              </a:lnSpc>
              <a:defRPr sz="950">
                <a:solidFill>
                  <a:srgbClr val="334155"/>
                </a:solidFill>
                <a:latin typeface="Malgun Gothic"/>
              </a:defRPr>
            </a:pPr>
            <a:r>
              <a:t>• 성장·물가·통화·금융 점수화</a:t>
            </a:r>
            <a:br/>
            <a:r>
              <a:t>• 4대 경제 국면 판정</a:t>
            </a:r>
            <a:br/>
            <a:r>
              <a:t>• 침체 확률 산출 및 전파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14016" y="1353312"/>
            <a:ext cx="1773936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14016" y="1353312"/>
            <a:ext cx="1773936" cy="7315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23744" y="1499616"/>
            <a:ext cx="1554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2C59"/>
                </a:solidFill>
                <a:latin typeface="Malgun Gothic"/>
              </a:defRPr>
            </a:pPr>
            <a:r>
              <a:t>STEP 2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자산군 CMA 산출</a:t>
            </a:r>
            <a:br/>
            <a:r>
              <a:t>(18 AC Agents)</a:t>
            </a:r>
          </a:p>
          <a:p>
            <a:pPr>
              <a:lnSpc>
                <a:spcPct val="130000"/>
              </a:lnSpc>
              <a:defRPr sz="950">
                <a:solidFill>
                  <a:srgbClr val="334155"/>
                </a:solidFill>
                <a:latin typeface="Malgun Gothic"/>
              </a:defRPr>
            </a:pPr>
            <a:r>
              <a:t>• 자산별 6개 모델 병렬 계산</a:t>
            </a:r>
            <a:br/>
            <a:r>
              <a:t>• Auto-Blend 산출</a:t>
            </a:r>
            <a:br/>
            <a:r>
              <a:t>• LLM 심사역 밸류에이션 보정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9392" y="1353312"/>
            <a:ext cx="1773936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1353312"/>
            <a:ext cx="1773936" cy="73152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499616"/>
            <a:ext cx="1554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STEP 3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공분산 행렬 추정</a:t>
            </a:r>
            <a:br/>
            <a:r>
              <a:t>(Covariance)</a:t>
            </a:r>
          </a:p>
          <a:p>
            <a:pPr>
              <a:lnSpc>
                <a:spcPct val="130000"/>
              </a:lnSpc>
              <a:defRPr sz="950">
                <a:solidFill>
                  <a:srgbClr val="334155"/>
                </a:solidFill>
                <a:latin typeface="Malgun Gothic"/>
              </a:defRPr>
            </a:pPr>
            <a:r>
              <a:t>• 거시 국면 스트레스 반영</a:t>
            </a:r>
            <a:br/>
            <a:r>
              <a:t>• Ledoit-Wolf 축약(20%)</a:t>
            </a:r>
            <a:br/>
            <a:r>
              <a:t>• 표본 외 추정 오차 최소화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353312"/>
            <a:ext cx="1773936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353312"/>
            <a:ext cx="1773936" cy="73152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499616"/>
            <a:ext cx="1554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STEP 4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포트폴리오 구성</a:t>
            </a:r>
            <a:br/>
            <a:r>
              <a:t>(21 PC Agents)</a:t>
            </a:r>
          </a:p>
          <a:p>
            <a:pPr>
              <a:lnSpc>
                <a:spcPct val="130000"/>
              </a:lnSpc>
              <a:defRPr sz="950">
                <a:solidFill>
                  <a:srgbClr val="334155"/>
                </a:solidFill>
                <a:latin typeface="Malgun Gothic"/>
              </a:defRPr>
            </a:pPr>
            <a:r>
              <a:t>• 4대 학파 19개 모델 병렬 구동</a:t>
            </a:r>
            <a:br/>
            <a:r>
              <a:t>• 리서처 신규 기법 제안</a:t>
            </a:r>
            <a:br/>
            <a:r>
              <a:t>• 적대적 분산기 직교 탐색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0144" y="1353312"/>
            <a:ext cx="1773936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0144" y="1353312"/>
            <a:ext cx="1773936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2" y="1499616"/>
            <a:ext cx="1554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Malgun Gothic"/>
              </a:defRPr>
            </a:pPr>
            <a:r>
              <a:t>STEP 5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전략 심의·투표</a:t>
            </a:r>
            <a:br/>
            <a:r>
              <a:t>(CRO &amp; Referees)</a:t>
            </a:r>
          </a:p>
          <a:p>
            <a:pPr>
              <a:lnSpc>
                <a:spcPct val="130000"/>
              </a:lnSpc>
              <a:defRPr sz="950">
                <a:solidFill>
                  <a:srgbClr val="334155"/>
                </a:solidFill>
                <a:latin typeface="Malgun Gothic"/>
              </a:defRPr>
            </a:pPr>
            <a:r>
              <a:t>• CRO 독립 리스크·IPS 감사</a:t>
            </a:r>
            <a:br/>
            <a:r>
              <a:t>• 42건 교차 피어 리뷰</a:t>
            </a:r>
            <a:br/>
            <a:r>
              <a:t>• 수정 보르다 카운트 투표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19" y="1353312"/>
            <a:ext cx="1773936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75519" y="1353312"/>
            <a:ext cx="1773936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85247" y="1499616"/>
            <a:ext cx="1554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45309"/>
                </a:solidFill>
                <a:latin typeface="Malgun Gothic"/>
              </a:defRPr>
            </a:pPr>
            <a:r>
              <a:t>STEP 6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CIO 앙상블·메모</a:t>
            </a:r>
            <a:br/>
            <a:r>
              <a:t>(CIO Agent)</a:t>
            </a:r>
          </a:p>
          <a:p>
            <a:pPr>
              <a:lnSpc>
                <a:spcPct val="130000"/>
              </a:lnSpc>
              <a:defRPr sz="950">
                <a:solidFill>
                  <a:srgbClr val="334155"/>
                </a:solidFill>
                <a:latin typeface="Malgun Gothic"/>
              </a:defRPr>
            </a:pPr>
            <a:r>
              <a:t>• 7대 앙상블 기법 비교 평가</a:t>
            </a:r>
            <a:br/>
            <a:r>
              <a:t>• 역추적오차 가중 비중 확정</a:t>
            </a:r>
            <a:br/>
            <a:r>
              <a:t>• 이사회 거버넌스 메모 작성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886200"/>
            <a:ext cx="2651760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886200"/>
            <a:ext cx="2651760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2377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51C2C"/>
                </a:solidFill>
                <a:latin typeface="Malgun Gothic"/>
              </a:defRPr>
            </a:pPr>
            <a:r>
              <a:t>① 직무 기술서 (Description)</a:t>
            </a:r>
          </a:p>
          <a:p>
            <a:pPr>
              <a:lnSpc>
                <a:spcPct val="125000"/>
              </a:lnSpc>
              <a:defRPr sz="1000">
                <a:solidFill>
                  <a:srgbClr val="334155"/>
                </a:solidFill>
                <a:latin typeface="Malgun Gothic"/>
              </a:defRPr>
            </a:pPr>
            <a:r>
              <a:t>에이전트 역할·입출력·단계를 정의한 마크다운 명세(.md)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64992" y="3886200"/>
            <a:ext cx="2651760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64992" y="3886200"/>
            <a:ext cx="2651760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02152" y="4069080"/>
            <a:ext cx="2377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51C2C"/>
                </a:solidFill>
                <a:latin typeface="Malgun Gothic"/>
              </a:defRPr>
            </a:pPr>
            <a:r>
              <a:t>② 연산 스크립트 (Python Scripts)</a:t>
            </a:r>
          </a:p>
          <a:p>
            <a:pPr>
              <a:lnSpc>
                <a:spcPct val="125000"/>
              </a:lnSpc>
              <a:defRPr sz="1000">
                <a:solidFill>
                  <a:srgbClr val="334155"/>
                </a:solidFill>
                <a:latin typeface="Malgun Gothic"/>
              </a:defRPr>
            </a:pPr>
            <a:r>
              <a:t>사칙연산·최적화를 전담하는 정밀 수리 코드(.py)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1344" y="3886200"/>
            <a:ext cx="2651760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81344" y="3886200"/>
            <a:ext cx="2651760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18504" y="4069080"/>
            <a:ext cx="2377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51C2C"/>
                </a:solidFill>
                <a:latin typeface="Malgun Gothic"/>
              </a:defRPr>
            </a:pPr>
            <a:r>
              <a:t>③ 공유 스킬 모듈 (Shared Skills)</a:t>
            </a:r>
          </a:p>
          <a:p>
            <a:pPr>
              <a:lnSpc>
                <a:spcPct val="125000"/>
              </a:lnSpc>
              <a:defRPr sz="1000">
                <a:solidFill>
                  <a:srgbClr val="334155"/>
                </a:solidFill>
                <a:latin typeface="Malgun Gothic"/>
              </a:defRPr>
            </a:pPr>
            <a:r>
              <a:t>국면 분류·심사 규칙 등 기관 방법론 지식 폴더(SKILL.md)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97696" y="3886200"/>
            <a:ext cx="2651760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97696" y="3886200"/>
            <a:ext cx="2651760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34856" y="4069080"/>
            <a:ext cx="2377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51C2C"/>
                </a:solidFill>
                <a:latin typeface="Malgun Gothic"/>
              </a:defRPr>
            </a:pPr>
            <a:r>
              <a:t>④ 정형 출력 계약 (Output Contract)</a:t>
            </a:r>
          </a:p>
          <a:p>
            <a:pPr>
              <a:lnSpc>
                <a:spcPct val="125000"/>
              </a:lnSpc>
              <a:defRPr sz="1000">
                <a:solidFill>
                  <a:srgbClr val="334155"/>
                </a:solidFill>
                <a:latin typeface="Malgun Gothic"/>
              </a:defRPr>
            </a:pPr>
            <a:r>
              <a:t>기계 가독용 JSON 스키마 + 인간 감사용 마크다운 리포트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806440"/>
            <a:ext cx="11094415" cy="4754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806440"/>
            <a:ext cx="91440" cy="47548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907024"/>
            <a:ext cx="1069848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KEY TAKEAWAY  |  Python 스크립트(정밀 수리 연산)와 LLM(정성적 판단·서술)의 완전한 분리를 통한 수치 무결성 확보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50" b="1">
                <a:solidFill>
                  <a:srgbClr val="0052CC"/>
                </a:solidFill>
                <a:latin typeface="Malgun Gothic"/>
              </a:defRPr>
            </a:pPr>
            <a:r>
              <a:t>3. 핵심 메커니즘 ①  |  CMA LLM-as-Judge (Exhibit 4 &amp; 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7개 기대수익률 후보 산출 및 LLM 심사역의 고평가 자산 선제적 할인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Ang, Azimbayev, &amp;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411480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353312"/>
            <a:ext cx="4114800" cy="73152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36192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 b="1">
                <a:solidFill>
                  <a:srgbClr val="051C2C"/>
                </a:solidFill>
                <a:latin typeface="Malgun Gothic"/>
              </a:defRPr>
            </a:pPr>
            <a:r>
              <a:t>CMA 심사역 4단계 의사결정 규칙</a:t>
            </a:r>
          </a:p>
          <a:p>
            <a:pPr>
              <a:spcBef>
                <a:spcPts val="800"/>
              </a:spcBef>
              <a:defRPr sz="1100" b="1">
                <a:solidFill>
                  <a:srgbClr val="0052CC"/>
                </a:solidFill>
                <a:latin typeface="Malgun Gothic"/>
              </a:defRPr>
            </a:pPr>
            <a:r>
              <a:t>▪ 1. 모델 간 편차 진단</a:t>
            </a:r>
          </a:p>
          <a:p>
            <a:pPr>
              <a:spcBef>
                <a:spcPts val="2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  6개 방법론 스프레드(&lt;3%p vs &gt;6%p)로 추정 불확실성 측정</a:t>
            </a:r>
          </a:p>
          <a:p>
            <a:pPr>
              <a:spcBef>
                <a:spcPts val="800"/>
              </a:spcBef>
              <a:defRPr sz="1100" b="1">
                <a:solidFill>
                  <a:srgbClr val="0052CC"/>
                </a:solidFill>
                <a:latin typeface="Malgun Gothic"/>
              </a:defRPr>
            </a:pPr>
            <a:r>
              <a:t>▪ 2. 거시 국면 로직 반영</a:t>
            </a:r>
          </a:p>
          <a:p>
            <a:pPr>
              <a:spcBef>
                <a:spcPts val="2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  후기 사이클(스태그플레이션) 하에서 국면조정·밸류에이션 가중</a:t>
            </a:r>
          </a:p>
          <a:p>
            <a:pPr>
              <a:spcBef>
                <a:spcPts val="800"/>
              </a:spcBef>
              <a:defRPr sz="1100" b="1">
                <a:solidFill>
                  <a:srgbClr val="0052CC"/>
                </a:solidFill>
                <a:latin typeface="Malgun Gothic"/>
              </a:defRPr>
            </a:pPr>
            <a:r>
              <a:t>▪ 3. 밸류에이션 멀티플 점검</a:t>
            </a:r>
          </a:p>
          <a:p>
            <a:pPr>
              <a:spcBef>
                <a:spcPts val="2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  CAPE &gt; 30배 과열 자산에 대해 역고든·내재ERP 비중 60% 부여</a:t>
            </a:r>
          </a:p>
          <a:p>
            <a:pPr>
              <a:spcBef>
                <a:spcPts val="800"/>
              </a:spcBef>
              <a:defRPr sz="1100" b="1">
                <a:solidFill>
                  <a:srgbClr val="0052CC"/>
                </a:solidFill>
                <a:latin typeface="Malgun Gothic"/>
              </a:defRPr>
            </a:pPr>
            <a:r>
              <a:t>▪ 4. 하드 제약조건 강제</a:t>
            </a:r>
          </a:p>
          <a:p>
            <a:pPr>
              <a:spcBef>
                <a:spcPts val="2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  최종 선정값을 [최소 모델값, 최대 모델값] 범위 내로 엄격 제한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325880"/>
            <a:ext cx="6720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1C2C"/>
                </a:solidFill>
                <a:latin typeface="Malgun Gothic"/>
              </a:defRPr>
            </a:pPr>
            <a:r>
              <a:t>주식형 자산군 7개 모델별 기대수익률 및 심사역 최종 선정치 (명목 연율 %, 논문 Exhibit 8)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892040" y="1691640"/>
          <a:ext cx="6751015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58368"/>
                <a:gridCol w="658368"/>
                <a:gridCol w="658368"/>
                <a:gridCol w="658368"/>
                <a:gridCol w="658368"/>
                <a:gridCol w="694944"/>
                <a:gridCol w="694944"/>
                <a:gridCol w="697687"/>
              </a:tblGrid>
              <a:tr h="371475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자산군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역사적</a:t>
                      </a:r>
                      <a:br/>
                      <a:r>
                        <a:t>ERP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국면</a:t>
                      </a:r>
                      <a:br/>
                      <a:r>
                        <a:t>조정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BL</a:t>
                      </a:r>
                      <a:br/>
                      <a:r>
                        <a:t>균형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역고든</a:t>
                      </a:r>
                      <a:br/>
                      <a:r>
                        <a:t>모형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내재</a:t>
                      </a:r>
                      <a:br/>
                      <a:r>
                        <a:t>ERP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Auto</a:t>
                      </a:r>
                      <a:br/>
                      <a:r>
                        <a:t>Blend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심사역</a:t>
                      </a:r>
                      <a:br/>
                      <a:r>
                        <a:t>최종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조정폭</a:t>
                      </a:r>
                      <a:br/>
                      <a:r>
                        <a:t>(Δ)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미국 대형주 (CAPE 25x)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12.5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9.8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9.3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4.3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4.0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7.9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6.8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B91C1C"/>
                          </a:solidFill>
                          <a:latin typeface="Malgun Gothic"/>
                        </a:defRPr>
                      </a:pPr>
                      <a:r>
                        <a:t>-1.1%p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미국 성장주 (CAPE 31x)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13.3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10.0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9.7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3.5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3.2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8.2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6.2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B91C1C"/>
                          </a:solidFill>
                          <a:latin typeface="Malgun Gothic"/>
                        </a:defRPr>
                      </a:pPr>
                      <a:r>
                        <a:t>-2.0%p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미국 가치주 (CAPE 18x)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11.7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9.5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9.0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4.8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4.9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8.0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7.5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-0.5%p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미국 중소형주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12.1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9.8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10.2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4.1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5.6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8.2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0.0%p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선진국 주식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7.7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6.2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9.3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6.6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5.7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7.0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6.7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-0.3%p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신흥국 주식 (CAPE 13x)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10.9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9.2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10.4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5.3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6.9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8.2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-0.2%p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글로벌 리츠 (REITs)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12.1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11.2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8.7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7.1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3.4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8.5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8.3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-0.2%p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4892040" y="4773168"/>
            <a:ext cx="6751015" cy="7863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4773168"/>
            <a:ext cx="6751015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4882896"/>
            <a:ext cx="6492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• 밸류에이션 비례 선택적 할인: 고평가된 미국 성장주(-2.0%p)·대형주(-1.1%p)는 대폭 할인</a:t>
            </a:r>
            <a:br/>
            <a:r>
              <a:t>• 저평가 자산 보존: 밸류에이션 부담이 낮은 신흥국(-0.2%p)·중소형주(0.0%p)는 원안 유지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806440"/>
            <a:ext cx="11094415" cy="4754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806440"/>
            <a:ext cx="91440" cy="47548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907024"/>
            <a:ext cx="1069848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KEY TAKEAWAY  |  과거 수익률 단순 외삽(Extrapolation)에 따른 고평가 성장주 과잉 배분 위험의 선제적 차단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50" b="1">
                <a:solidFill>
                  <a:srgbClr val="0052CC"/>
                </a:solidFill>
                <a:latin typeface="Malgun Gothic"/>
              </a:defRPr>
            </a:pPr>
            <a:r>
              <a:t>4. 핵심 메커니즘 ②  |  21 PC Optimizers &amp; Borda Voting (Exhibit 5 &amp; 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4대 학파 21개 최적화 모델 경쟁 및 수정 보르다 카운트 기반 집단 지성 순위 산출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Ang, Azimbayev, &amp;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466344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353312"/>
            <a:ext cx="4663440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36192"/>
            <a:ext cx="42976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51C2C"/>
                </a:solidFill>
                <a:latin typeface="Malgun Gothic"/>
              </a:defRPr>
            </a:pPr>
            <a:r>
              <a:t>4대 최적화 학파 분류 및 심의 규칙</a:t>
            </a:r>
          </a:p>
          <a:p>
            <a:pPr>
              <a:spcBef>
                <a:spcPts val="600"/>
              </a:spcBef>
              <a:defRPr sz="1050" b="1">
                <a:solidFill>
                  <a:srgbClr val="0052CC"/>
                </a:solidFill>
                <a:latin typeface="Malgun Gothic"/>
              </a:defRPr>
            </a:pPr>
            <a:r>
              <a:t>▪ A. 휴리스틱 (5개)</a:t>
            </a:r>
          </a:p>
          <a:p>
            <a:pPr>
              <a:defRPr sz="950">
                <a:solidFill>
                  <a:srgbClr val="334155"/>
                </a:solidFill>
                <a:latin typeface="Malgun Gothic"/>
              </a:defRPr>
            </a:pPr>
            <a:r>
              <a:t>  동일가중(1/N), 시가총액, 역변동성, 역분산, 변동성 타겟팅</a:t>
            </a:r>
          </a:p>
          <a:p>
            <a:pPr>
              <a:spcBef>
                <a:spcPts val="600"/>
              </a:spcBef>
              <a:defRPr sz="1050" b="1">
                <a:solidFill>
                  <a:srgbClr val="0052CC"/>
                </a:solidFill>
                <a:latin typeface="Malgun Gothic"/>
              </a:defRPr>
            </a:pPr>
            <a:r>
              <a:t>▪ B. 수익률 최적화 (5개)</a:t>
            </a:r>
          </a:p>
          <a:p>
            <a:pPr>
              <a:defRPr sz="950">
                <a:solidFill>
                  <a:srgbClr val="334155"/>
                </a:solidFill>
                <a:latin typeface="Malgun Gothic"/>
              </a:defRPr>
            </a:pPr>
            <a:r>
              <a:t>  최대 샤프(MVO), 블랙-리터만, 로버스트 MV, 리샘플링, 소르티노</a:t>
            </a:r>
          </a:p>
          <a:p>
            <a:pPr>
              <a:spcBef>
                <a:spcPts val="600"/>
              </a:spcBef>
              <a:defRPr sz="1050" b="1">
                <a:solidFill>
                  <a:srgbClr val="0052CC"/>
                </a:solidFill>
                <a:latin typeface="Malgun Gothic"/>
              </a:defRPr>
            </a:pPr>
            <a:r>
              <a:t>▪ C. 위험 구조화 (5개)</a:t>
            </a:r>
          </a:p>
          <a:p>
            <a:pPr>
              <a:defRPr sz="950">
                <a:solidFill>
                  <a:srgbClr val="334155"/>
                </a:solidFill>
                <a:latin typeface="Malgun Gothic"/>
              </a:defRPr>
            </a:pPr>
            <a:r>
              <a:t>  글로벌 최소분산, 리스크 패리티, 계층적 위험균형(HRP), 최대 분산, 최소 상관</a:t>
            </a:r>
          </a:p>
          <a:p>
            <a:pPr>
              <a:spcBef>
                <a:spcPts val="600"/>
              </a:spcBef>
              <a:defRPr sz="1050" b="1">
                <a:solidFill>
                  <a:srgbClr val="0052CC"/>
                </a:solidFill>
                <a:latin typeface="Malgun Gothic"/>
              </a:defRPr>
            </a:pPr>
            <a:r>
              <a:t>▪ D/E. 비전통적·특수 (6개)</a:t>
            </a:r>
          </a:p>
          <a:p>
            <a:pPr>
              <a:defRPr sz="950">
                <a:solidFill>
                  <a:srgbClr val="334155"/>
                </a:solidFill>
                <a:latin typeface="Malgun Gothic"/>
              </a:defRPr>
            </a:pPr>
            <a:r>
              <a:t>  CVaR, 최대낙폭 제약, 꼬리위험 패리티, 통합배분(TPA), 적대적 분산기, 최대 엔트로피</a:t>
            </a:r>
          </a:p>
          <a:p>
            <a:br/>
            <a:pPr>
              <a:defRPr sz="980" b="1">
                <a:solidFill>
                  <a:srgbClr val="051C2C"/>
                </a:solidFill>
                <a:latin typeface="Malgun Gothic"/>
              </a:defRPr>
            </a:pPr>
            <a:r>
              <a:t>[전략 심의 및 보르다 투표 규칙]</a:t>
            </a:r>
            <a:br/>
            <a:r>
              <a:t>• 무작위 피어 리뷰: 동일 학파 1개 + 타 학파 1개 교차 심사 (42건)</a:t>
            </a:r>
            <a:br/>
            <a:r>
              <a:t>• 수정 보르다 투표: 상위 5개(+5~+1점), 최하위 1개(-2점 감점)</a:t>
            </a:r>
            <a:br/>
            <a:r>
              <a:t>• 다양성 강제: 상위 5개 숏리스트 내 최소 3개 이상 학파 포함 필수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32588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1C2C"/>
                </a:solidFill>
                <a:latin typeface="Malgun Gothic"/>
              </a:defRPr>
            </a:pPr>
            <a:r>
              <a:t>21개 포트폴리오 최적화 에이전트 투표 및 종합 순위 (논문 Exhibit 9)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94960" y="1691640"/>
          <a:ext cx="6248095" cy="386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148840"/>
                <a:gridCol w="1371600"/>
                <a:gridCol w="685800"/>
                <a:gridCol w="731520"/>
                <a:gridCol w="807415"/>
              </a:tblGrid>
              <a:tr h="35162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순위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최적화 모델명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소속 학파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보르다</a:t>
                      </a:r>
                      <a:br/>
                      <a:r>
                        <a:t>득표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정량</a:t>
                      </a:r>
                      <a:br/>
                      <a:r>
                        <a:t>점수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종합</a:t>
                      </a:r>
                      <a:br/>
                      <a:r>
                        <a:t>점수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</a:tr>
              <a:tr h="351628">
                <a:tc>
                  <a:txBody>
                    <a:bodyPr wrap="square"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최대 분산 (Max Diversification)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C: 위험구조화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1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+96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0.553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351628">
                <a:tc>
                  <a:txBody>
                    <a:bodyPr wrap="square"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블랙-리터만 (Black-Litterman)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B: 수익률최적화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1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+76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0.551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0.936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351628">
                <a:tc>
                  <a:txBody>
                    <a:bodyPr wrap="square"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리스크 패리티 (Risk Parity)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C: 위험구조화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0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+42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0.503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0.750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351628">
                <a:tc>
                  <a:txBody>
                    <a:bodyPr wrap="square"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계층적 위험균형 (HRP)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C: 위험구조화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0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+41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0.497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0.737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351628">
                <a:tc>
                  <a:txBody>
                    <a:bodyPr wrap="square"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꼬리위험 패리티 (Tail Risk Parity)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D: 비전통적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0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+22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0.510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0.702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351628">
                <a:tc>
                  <a:txBody>
                    <a:bodyPr wrap="square"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통합 포트폴리오 배분 (TPA)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D: 비전통적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+22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0.479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0.648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1628">
                <a:tc>
                  <a:txBody>
                    <a:bodyPr wrap="square"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동일 가중 (Equal Weight 1/N)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A: 휴리스틱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+3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0.468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0.572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51628">
                <a:tc>
                  <a:txBody>
                    <a:bodyPr wrap="square"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최대 엔트로피 (PC-Researcher)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E: 자율탐색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+3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0.406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0.464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1628">
                <a:tc>
                  <a:txBody>
                    <a:bodyPr wrap="square"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CVaR 최소화 (CVaR Min)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D: 비전통적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-6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0.239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0.150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51632">
                <a:tc>
                  <a:txBody>
                    <a:bodyPr wrap="square"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적대적 분산기 (Adversarial)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D: 비전통적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1">
                          <a:solidFill>
                            <a:srgbClr val="B91C1C"/>
                          </a:solidFill>
                          <a:latin typeface="Malgun Gothic"/>
                        </a:defRPr>
                      </a:pPr>
                      <a:r>
                        <a:t>-36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0.205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0.000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48640" y="5806440"/>
            <a:ext cx="11094415" cy="4754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806440"/>
            <a:ext cx="91440" cy="47548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907024"/>
            <a:ext cx="1069848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KEY TAKEAWAY  |  후기 사이클 불확실성 하에서 공분산 구조에 기반한 '위험 구조화(C 학파)' 모델의 상위권 주도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50" b="1">
                <a:solidFill>
                  <a:srgbClr val="0052CC"/>
                </a:solidFill>
                <a:latin typeface="Malgun Gothic"/>
              </a:defRPr>
            </a:pPr>
            <a:r>
              <a:t>5. 핵심 메커니즘 ③  |  Adversarial Diversifier &amp; PC-Researcher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집단 사고 방지를 위한 적대적 분산기 포용 및 리서처 에이전트의 신규 기법 발굴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Ang, Azimbayev, &amp;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539496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353312"/>
            <a:ext cx="5394960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B91C1C"/>
                </a:solidFill>
                <a:latin typeface="Malgun Gothic"/>
              </a:defRPr>
            </a:pPr>
            <a:r>
              <a:t>적대적 분산 에이전트 (Adversarial Diversifier)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▪ 설계 목적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  기존 20개 에이전트 평균(Centroid) 대비 추적 분산 극대화 (샤프 하한 75% 제약)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▪ 동료 투표 최하위 (-36표, 21위)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  컨센서스와 가장 직교(Orthogonal)하는 배분으로 인해 18개 동료 모델로부터 거부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▪ CIO 앙상블 2.7% 전략적 편입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  동료들의 거부는 결함이 아닌 의도된 기능(Feature), 가중치 중복 축소 및 스패닝 영역 확장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▪ 머신러닝 부스팅(Boosting) 원리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  서로 다른 차원에서 오차를 내는 약한 학습기 결합으로 전체 앙상블의 꼬리위험 방어력 극대화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8095" y="1353312"/>
            <a:ext cx="539496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8095" y="1353312"/>
            <a:ext cx="539496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5544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0D9488"/>
                </a:solidFill>
                <a:latin typeface="Malgun Gothic"/>
              </a:defRPr>
            </a:pPr>
            <a:r>
              <a:t>PC-리서처 &amp; 자가 학습 메타 에이전트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▪ 신규 최적화 기법 자율 발굴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  금융 학술 문헌 탐색을 통해 기존 목록에 없던 새로운 포트폴리오 목적함수 제안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▪ 최대 엔트로피(Max Entropy) 채택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  섀넌 엔트로피 극대화 기법 제안(투표 11위) → 최종 CIO 앙상블 비중 5.6%(전체 5위) 편입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▪ 메타 에이전트 사후 성과 검증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  3년 롤링 윈도우의 실현 수익률과 과거 국면·CMA 예측치를 대조해 오차 원인 추론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▪ 코드 및 프롬프트 자율 진화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  에이전트 지침(.md)과 수리 코드(.py) 자동 수정 및 변경 로그(Change Log) 기반 인간 감독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06440"/>
            <a:ext cx="11094415" cy="4754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806440"/>
            <a:ext cx="91440" cy="47548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907024"/>
            <a:ext cx="1069848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KEY TAKEAWAY  |  적대적 분산기(사각지대 방어)와 리서처 에이전트(지식 확장)를 통한 창발적 포트폴리오 구축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50" b="1">
                <a:solidFill>
                  <a:srgbClr val="0052CC"/>
                </a:solidFill>
                <a:latin typeface="Malgun Gothic"/>
              </a:defRPr>
            </a:pPr>
            <a:r>
              <a:t>6. 실증 분석 결과  |  Final Policy Portfolio (Exhibit 10 &amp; 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역추적오차 가중 앙상블 기반 최종 자산배분 및 60/40 벤치마크 대비 하방 위험 축소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Ang, Azimbayev, &amp;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2194560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353312"/>
            <a:ext cx="2194560" cy="73152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481328"/>
            <a:ext cx="19385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기대 명목수익률</a:t>
            </a:r>
          </a:p>
          <a:p>
            <a:pPr>
              <a:spcBef>
                <a:spcPts val="200"/>
              </a:spcBef>
              <a:defRPr sz="2000" b="1">
                <a:solidFill>
                  <a:srgbClr val="0052CC"/>
                </a:solidFill>
                <a:latin typeface="Malgun Gothic"/>
              </a:defRPr>
            </a:pPr>
            <a:r>
              <a:t>6.87%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  <a:latin typeface="Malgun Gothic"/>
              </a:defRPr>
            </a:pPr>
            <a:r>
              <a:t>실질 수익률 +4.37% (IPS 목표 달성)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1353312"/>
            <a:ext cx="2194560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0360" y="1353312"/>
            <a:ext cx="219456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8376" y="1481328"/>
            <a:ext cx="19385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사전 연간 변동성</a:t>
            </a:r>
          </a:p>
          <a:p>
            <a:pPr>
              <a:spcBef>
                <a:spcPts val="200"/>
              </a:spcBef>
              <a:defRPr sz="2000" b="1">
                <a:solidFill>
                  <a:srgbClr val="0D9488"/>
                </a:solidFill>
                <a:latin typeface="Malgun Gothic"/>
              </a:defRPr>
            </a:pPr>
            <a:r>
              <a:t>7.54%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  <a:latin typeface="Malgun Gothic"/>
              </a:defRPr>
            </a:pPr>
            <a:r>
              <a:t>IPS 허용 밴드 [8~12%] 안정 충족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79191"/>
            <a:ext cx="2194560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679191"/>
            <a:ext cx="2194560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807207"/>
            <a:ext cx="19385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사전 추적오차 (TE)</a:t>
            </a:r>
          </a:p>
          <a:p>
            <a:pPr>
              <a:spcBef>
                <a:spcPts val="200"/>
              </a:spcBef>
              <a:defRPr sz="2000" b="1">
                <a:solidFill>
                  <a:srgbClr val="051C2C"/>
                </a:solidFill>
                <a:latin typeface="Malgun Gothic"/>
              </a:defRPr>
            </a:pPr>
            <a:r>
              <a:t>2.41%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  <a:latin typeface="Malgun Gothic"/>
              </a:defRPr>
            </a:pPr>
            <a:r>
              <a:t>IPS 액티브 한도(&lt;6.0%) 완벽 준수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2679191"/>
            <a:ext cx="2194560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0360" y="2679191"/>
            <a:ext cx="2194560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08376" y="2807207"/>
            <a:ext cx="19385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백테스트 최대낙폭</a:t>
            </a:r>
          </a:p>
          <a:p>
            <a:pPr>
              <a:spcBef>
                <a:spcPts val="200"/>
              </a:spcBef>
              <a:defRPr sz="2000" b="1">
                <a:solidFill>
                  <a:srgbClr val="B91C1C"/>
                </a:solidFill>
                <a:latin typeface="Malgun Gothic"/>
              </a:defRPr>
            </a:pPr>
            <a:r>
              <a:t>-25.6%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  <a:latin typeface="Malgun Gothic"/>
              </a:defRPr>
            </a:pPr>
            <a:r>
              <a:t>60/40(-34.3%) 대비 +8.7%p 손실 방어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69080"/>
            <a:ext cx="4526280" cy="149047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069080"/>
            <a:ext cx="4526280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206240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51C2C"/>
                </a:solidFill>
                <a:latin typeface="Malgun Gothic"/>
              </a:defRPr>
            </a:pPr>
            <a:r>
              <a:t>4대 자산군 슬리브(Sleeve) 배분 요약</a:t>
            </a:r>
          </a:p>
          <a:p>
            <a:pPr>
              <a:spcBef>
                <a:spcPts val="400"/>
              </a:spcBef>
              <a:defRPr sz="980">
                <a:solidFill>
                  <a:srgbClr val="0F172A"/>
                </a:solidFill>
                <a:latin typeface="Malgun Gothic"/>
              </a:defRPr>
            </a:pPr>
            <a:r>
              <a:t>• 주식 (44.9%): 60% 대비 축소, 선진국 주식(15.9%) 틸트</a:t>
            </a:r>
          </a:p>
          <a:p>
            <a:pPr>
              <a:spcBef>
                <a:spcPts val="400"/>
              </a:spcBef>
              <a:defRPr sz="980">
                <a:solidFill>
                  <a:srgbClr val="0F172A"/>
                </a:solidFill>
                <a:latin typeface="Malgun Gothic"/>
              </a:defRPr>
            </a:pPr>
            <a:r>
              <a:t>• 채권 (41.7%): 중·장기 국채 듀레이션 바벨(23.1%) 집중</a:t>
            </a:r>
          </a:p>
          <a:p>
            <a:pPr>
              <a:spcBef>
                <a:spcPts val="400"/>
              </a:spcBef>
              <a:defRPr sz="980">
                <a:solidFill>
                  <a:srgbClr val="0F172A"/>
                </a:solidFill>
                <a:latin typeface="Malgun Gothic"/>
              </a:defRPr>
            </a:pPr>
            <a:r>
              <a:t>• 실물 (5.1%) &amp; 현금 (8.1%): 인플레이션 헤지 및 유동성 버퍼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132588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1C2C"/>
                </a:solidFill>
                <a:latin typeface="Malgun Gothic"/>
              </a:defRPr>
            </a:pPr>
            <a:r>
              <a:t>18개 자산군 최종 정책 포트폴리오 비중 및 위험 기여도 (논문 Exhibit 11)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303520" y="1691640"/>
          <a:ext cx="6339535" cy="386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25880"/>
                <a:gridCol w="1356055"/>
              </a:tblGrid>
              <a:tr h="386791"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자산군 명칭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대분류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목표 비중 (%)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위험 기여도 (%)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</a:tr>
              <a:tr h="386791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선진국 주식 (Intl Developed)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주식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15.9%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29.8%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6791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미국 중기국채 (Intermediate Treasuries)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채권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14.7%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791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미국 대형주 (US Large Cap)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주식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8.9%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15.3%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6791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미국 장기국채 (Long-Term Treasuries)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채권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791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현금성 자산 (Cash)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현금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8.1%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6791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미국 단기국채 (Short-Term Treasuries)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채권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791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미국 가치주 (US Value)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주식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7.2%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11.9%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6791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신흥국 주식 (Emerging Markets)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주식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4.9%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793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기타 10개 위성 자산 합계 (금, IG/HY, 리츠 등)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복합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24.6%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26.0%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548640" y="5806440"/>
            <a:ext cx="11094415" cy="4754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91440" cy="47548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907024"/>
            <a:ext cx="1069848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KEY TAKEAWAY  |  유효 분산 자산수(Meucci Effective N) 11.2개 달성 및 꼬리위험 방어력 입증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50" b="1">
                <a:solidFill>
                  <a:srgbClr val="0052CC"/>
                </a:solidFill>
                <a:latin typeface="Malgun Gothic"/>
              </a:defRPr>
            </a:pPr>
            <a:r>
              <a:t>7. 거버넌스 및 통제 체계  |  IPS Governance &amp; Control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투자원칙보고서(IPS) 3계층 통제 구조 및 인간 중심 감독(Oversight) 체계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Ang, Azimbayev, &amp;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3547872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353312"/>
            <a:ext cx="3547872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536192"/>
            <a:ext cx="321868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IPS 제1계층: 투자 유니버스</a:t>
            </a:r>
          </a:p>
          <a:p>
            <a:pPr>
              <a:spcAft>
                <a:spcPts val="1000"/>
              </a:spcAft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Permissible Universe</a:t>
            </a:r>
          </a:p>
          <a:p>
            <a:pPr>
              <a:spcBef>
                <a:spcPts val="500"/>
              </a:spcBef>
              <a:defRPr sz="1050">
                <a:solidFill>
                  <a:srgbClr val="0F172A"/>
                </a:solidFill>
                <a:latin typeface="Malgun Gothic"/>
              </a:defRPr>
            </a:pPr>
            <a:r>
              <a:t>▪ ETF 거래 가능 18개 유동성 자산군 지정</a:t>
            </a:r>
          </a:p>
          <a:p>
            <a:pPr>
              <a:spcBef>
                <a:spcPts val="500"/>
              </a:spcBef>
              <a:defRPr sz="1050">
                <a:solidFill>
                  <a:srgbClr val="0F172A"/>
                </a:solidFill>
                <a:latin typeface="Malgun Gothic"/>
              </a:defRPr>
            </a:pPr>
            <a:r>
              <a:t>▪ 주식(6) · 채권(8) · 실물 및 현금(4)</a:t>
            </a:r>
          </a:p>
          <a:p>
            <a:pPr>
              <a:spcBef>
                <a:spcPts val="500"/>
              </a:spcBef>
              <a:defRPr sz="1050">
                <a:solidFill>
                  <a:srgbClr val="0F172A"/>
                </a:solidFill>
                <a:latin typeface="Malgun Gothic"/>
              </a:defRPr>
            </a:pPr>
            <a:r>
              <a:t>▪ 비인가 자산 및 임의 파생상품 편입 원천 차단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353312"/>
            <a:ext cx="3547872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353312"/>
            <a:ext cx="3547872" cy="73152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36192"/>
            <a:ext cx="321868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2CC"/>
                </a:solidFill>
                <a:latin typeface="Malgun Gothic"/>
              </a:defRPr>
            </a:pPr>
            <a:r>
              <a:t>IPS 제2계층: 목표 및 위험 한도</a:t>
            </a:r>
          </a:p>
          <a:p>
            <a:pPr>
              <a:spcAft>
                <a:spcPts val="1000"/>
              </a:spcAft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Return &amp; Risk Mandate</a:t>
            </a:r>
          </a:p>
          <a:p>
            <a:pPr>
              <a:spcBef>
                <a:spcPts val="500"/>
              </a:spcBef>
              <a:defRPr sz="1050">
                <a:solidFill>
                  <a:srgbClr val="0F172A"/>
                </a:solidFill>
                <a:latin typeface="Malgun Gothic"/>
              </a:defRPr>
            </a:pPr>
            <a:r>
              <a:t>▪ 목표 실질수익률: CPI + 3.0~4.0%</a:t>
            </a:r>
          </a:p>
          <a:p>
            <a:pPr>
              <a:spcBef>
                <a:spcPts val="500"/>
              </a:spcBef>
              <a:defRPr sz="1050">
                <a:solidFill>
                  <a:srgbClr val="0F172A"/>
                </a:solidFill>
                <a:latin typeface="Malgun Gothic"/>
              </a:defRPr>
            </a:pPr>
            <a:r>
              <a:t>▪ 예상 변동성 허용 밴드: 연 8.0~12.0%</a:t>
            </a:r>
          </a:p>
          <a:p>
            <a:pPr>
              <a:spcBef>
                <a:spcPts val="500"/>
              </a:spcBef>
              <a:defRPr sz="1050">
                <a:solidFill>
                  <a:srgbClr val="0F172A"/>
                </a:solidFill>
                <a:latin typeface="Malgun Gothic"/>
              </a:defRPr>
            </a:pPr>
            <a:r>
              <a:t>▪ 최대 허용 낙폭(MDD): 고점 대비 -25.0% 제한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1353312"/>
            <a:ext cx="3547872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353312"/>
            <a:ext cx="354787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536192"/>
            <a:ext cx="321868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Malgun Gothic"/>
              </a:defRPr>
            </a:pPr>
            <a:r>
              <a:t>IPS 제3계층: 액티브 위험 예산</a:t>
            </a:r>
          </a:p>
          <a:p>
            <a:pPr>
              <a:spcAft>
                <a:spcPts val="1000"/>
              </a:spcAft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Active Risk &amp; Drift Trigger</a:t>
            </a:r>
          </a:p>
          <a:p>
            <a:pPr>
              <a:spcBef>
                <a:spcPts val="500"/>
              </a:spcBef>
              <a:defRPr sz="1050">
                <a:solidFill>
                  <a:srgbClr val="0F172A"/>
                </a:solidFill>
                <a:latin typeface="Malgun Gothic"/>
              </a:defRPr>
            </a:pPr>
            <a:r>
              <a:t>▪ 60/40 대비 사전 추적오차(TE) 6.0% 이하 제한</a:t>
            </a:r>
          </a:p>
          <a:p>
            <a:pPr>
              <a:spcBef>
                <a:spcPts val="500"/>
              </a:spcBef>
              <a:defRPr sz="1050">
                <a:solidFill>
                  <a:srgbClr val="0F172A"/>
                </a:solidFill>
                <a:latin typeface="Malgun Gothic"/>
              </a:defRPr>
            </a:pPr>
            <a:r>
              <a:t>▪ 정기 리밸런싱 주기: 분기별(Quarterly)</a:t>
            </a:r>
          </a:p>
          <a:p>
            <a:pPr>
              <a:spcBef>
                <a:spcPts val="500"/>
              </a:spcBef>
              <a:defRPr sz="1050">
                <a:solidFill>
                  <a:srgbClr val="0F172A"/>
                </a:solidFill>
                <a:latin typeface="Malgun Gothic"/>
              </a:defRPr>
            </a:pPr>
            <a:r>
              <a:t>▪ 오프사이클 트리거: 개별 자산 ±3.0% 이탈 시 발동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11094415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11094415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23360"/>
            <a:ext cx="10607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통제 추상화 사다리(Abstraction Ladder) 및 이사회 메모(Board Memo)의 역할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• 정책적 자율도 조절 (SAE L2~L5): 아키텍처 변경 없이 IPS의 제약 강도(추적오차·비중 하한) 조정만으로 자율주행 레벨 제어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• 거버넌스 루프 완성: CIO 에이전트가 선정 근거·핵심 리스크·무효화 조건을 담은 이사회 메모(Board Memo)를 생성해 인간 위원회 승인 획득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806440"/>
            <a:ext cx="11094415" cy="4754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806440"/>
            <a:ext cx="91440" cy="47548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907024"/>
            <a:ext cx="1069848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KEY TAKEAWAY  |  기존 기관의 법정 필수 문서인 IPS를 자율 에이전트 통제 경계선(ODD)으로 직접 활용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50" b="1">
                <a:solidFill>
                  <a:srgbClr val="0052CC"/>
                </a:solidFill>
                <a:latin typeface="Malgun Gothic"/>
              </a:defRPr>
            </a:pPr>
            <a:r>
              <a:t>8. 웹 플랫폼 구현 현황  |  Full-Stack System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논문 파이프라인의 실시간 구동 및 검증을 위한 한국어 풀스택 웹 플랫폼 구축 완료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Ang, Azimbayev, &amp;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3547872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353312"/>
            <a:ext cx="3547872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554480"/>
            <a:ext cx="3218688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 b="1">
                <a:solidFill>
                  <a:srgbClr val="051C2C"/>
                </a:solidFill>
                <a:latin typeface="Malgun Gothic"/>
              </a:defRPr>
            </a:pPr>
            <a:r>
              <a:t>Backend (FastAPI · Scipy)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✔ REST API 서버</a:t>
            </a:r>
          </a:p>
          <a:p>
            <a:pPr>
              <a:spcBef>
                <a:spcPts val="2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   파이프라인 오케스트레이션 엔드포인트 구축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✔ 21개 최적화 솔버</a:t>
            </a:r>
          </a:p>
          <a:p>
            <a:pPr>
              <a:spcBef>
                <a:spcPts val="2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   Scipy SLSQP 기반 4대 학파 수리 최적화 구현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✔ 특수 에이전트 수식</a:t>
            </a:r>
          </a:p>
          <a:p>
            <a:pPr>
              <a:spcBef>
                <a:spcPts val="2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   최대 엔트로피 및 적대적 분산기 직교 탐색 구현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✔ CRO·CIO 엔진</a:t>
            </a:r>
          </a:p>
          <a:p>
            <a:pPr>
              <a:spcBef>
                <a:spcPts val="2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   IPS 준수 감사 및 이사회 메모 동적 생성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353312"/>
            <a:ext cx="3547872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353312"/>
            <a:ext cx="3547872" cy="73152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54480"/>
            <a:ext cx="3218688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 b="1">
                <a:solidFill>
                  <a:srgbClr val="0052CC"/>
                </a:solidFill>
                <a:latin typeface="Malgun Gothic"/>
              </a:defRPr>
            </a:pPr>
            <a:r>
              <a:t>Frontend (React · Tailwind)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✔ Tab 1. 종합 배분 뷰</a:t>
            </a:r>
          </a:p>
          <a:p>
            <a:pPr>
              <a:spcBef>
                <a:spcPts val="2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   대자산군 도넛 차트 및 60/40 성과 비교 차트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✔ Tab 2. 보르다 투표 뷰</a:t>
            </a:r>
          </a:p>
          <a:p>
            <a:pPr>
              <a:spcBef>
                <a:spcPts val="2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   21개 모델 투표 순위표 및 42건 피어 리뷰 피드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✔ Tab 3. CMA 심사 뷰</a:t>
            </a:r>
          </a:p>
          <a:p>
            <a:pPr>
              <a:spcBef>
                <a:spcPts val="2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   7개 기대수익률 후보 비교 및 심사역 할인 사유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✔ Tab 4. 이사회 메모 뷰</a:t>
            </a:r>
          </a:p>
          <a:p>
            <a:pPr>
              <a:spcBef>
                <a:spcPts val="2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   인쇄·복사 가능한 공식 거버넌스 보고서 화면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1353312"/>
            <a:ext cx="3547872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353312"/>
            <a:ext cx="354787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554480"/>
            <a:ext cx="3218688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 b="1">
                <a:solidFill>
                  <a:srgbClr val="0D9488"/>
                </a:solidFill>
                <a:latin typeface="Malgun Gothic"/>
              </a:defRPr>
            </a:pPr>
            <a:r>
              <a:t>Interactive UX &amp; 배포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✔ 6단계 파이프라인 스테퍼</a:t>
            </a:r>
          </a:p>
          <a:p>
            <a:pPr>
              <a:spcBef>
                <a:spcPts val="2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   단계별 에이전트 상태 및 핵심 지표 실시간 탐색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✔ IPS 설정 제어 모달</a:t>
            </a:r>
          </a:p>
          <a:p>
            <a:pPr>
              <a:spcBef>
                <a:spcPts val="2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   목표수익·변동성·MDD·자율도 변경 및 즉시 재연산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✔ 기관 금융 용어 한글화</a:t>
            </a:r>
          </a:p>
          <a:p>
            <a:pPr>
              <a:spcBef>
                <a:spcPts val="2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   18개 자산군 및 전 에이전트 심사 리포트 한글화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✔ 외부 HTTPS 터널 개통</a:t>
            </a:r>
          </a:p>
          <a:p>
            <a:pPr>
              <a:spcBef>
                <a:spcPts val="2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   단일 포트 프록시 및 모바일·외부망 즉시 접속 지원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806440"/>
            <a:ext cx="11094415" cy="4754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806440"/>
            <a:ext cx="91440" cy="47548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907024"/>
            <a:ext cx="1069848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KEY TAKEAWAY  |  이론적 설계를 넘어 실제 투자위원회가 웹에서 IPS를 제어하며 감독 가능한 라이브 시스템 완성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50" b="1">
                <a:solidFill>
                  <a:srgbClr val="0052CC"/>
                </a:solidFill>
                <a:latin typeface="Malgun Gothic"/>
              </a:defRPr>
            </a:pPr>
            <a:r>
              <a:t>9. 주요 리스크 및 통제 설계  |  Risk Mitigation (Section 5.1)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LLM 금융 시스템의 4대 구조적 리스크 정의 및 아키텍처 차원의 안전장치 구축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Ang, Azimbayev, &amp;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5468112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353312"/>
            <a:ext cx="5468112" cy="73152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36192"/>
            <a:ext cx="51023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52CC"/>
                </a:solidFill>
                <a:latin typeface="Malgun Gothic"/>
              </a:defRPr>
            </a:pPr>
            <a:r>
              <a:t>01  수치 환각 위험 (Numerical Hallucination)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Malgun Gothic"/>
              </a:defRPr>
            </a:pPr>
            <a:r>
              <a:t>• 리스크 요인: LLM 직접 계산 시 비중 합 불일치 및 역행렬 연산 오류 발생 위험</a:t>
            </a:r>
          </a:p>
          <a:p>
            <a:pPr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• 통제 메커니즘: Python 스크립트 연산 전담 및 [최소값, 최대값] 하드 제약 강제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353312"/>
            <a:ext cx="5468112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53312"/>
            <a:ext cx="546811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36192"/>
            <a:ext cx="51023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D9488"/>
                </a:solidFill>
                <a:latin typeface="Malgun Gothic"/>
              </a:defRPr>
            </a:pPr>
            <a:r>
              <a:t>02  단일 모델 편향 (LLM Monoculture)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Malgun Gothic"/>
              </a:defRPr>
            </a:pPr>
            <a:r>
              <a:t>• 리스크 요인: 동일 기반 언어모델 공유 시 에이전트 간 판단 오류의 상호 상관 위험</a:t>
            </a:r>
          </a:p>
          <a:p>
            <a:pPr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• 통제 메커니즘: 21개 이종 수리 목적함수 결합 및 적대적 분산기를 통한 직교성 확보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02152"/>
            <a:ext cx="5468112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02152"/>
            <a:ext cx="5468112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85032"/>
            <a:ext cx="51023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B45309"/>
                </a:solidFill>
                <a:latin typeface="Malgun Gothic"/>
              </a:defRPr>
            </a:pPr>
            <a:r>
              <a:t>03  사전 정보 유출 (Lookahead Bias)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Malgun Gothic"/>
              </a:defRPr>
            </a:pPr>
            <a:r>
              <a:t>• 리스크 요인: 인터넷 코퍼스 학습 모델 특성상 과거 백테스트 시 미래 정보 혼입 위험</a:t>
            </a:r>
          </a:p>
          <a:p>
            <a:pPr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• 통제 메커니즘: 과거 통계 연산의 순수 스크립트 격리 및 라이브 프로덕션 중심 검증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502152"/>
            <a:ext cx="5468112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502152"/>
            <a:ext cx="5468112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685032"/>
            <a:ext cx="51023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B91C1C"/>
                </a:solidFill>
                <a:latin typeface="Malgun Gothic"/>
              </a:defRPr>
            </a:pPr>
            <a:r>
              <a:t>04  자동화 안주 현상 (Automation Surprise)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Malgun Gothic"/>
              </a:defRPr>
            </a:pPr>
            <a:r>
              <a:t>• 리스크 요인: 인간 위원회가 에이전트 보고서를 무비판적으로 승인(Rubber-stamp)할 위험</a:t>
            </a:r>
          </a:p>
          <a:p>
            <a:pPr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• 통제 메커니즘: 가정 무효화 조건(Invalidation Trigger) 및 소수 반대 의견 의무 명시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806440"/>
            <a:ext cx="11094415" cy="4754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806440"/>
            <a:ext cx="91440" cy="47548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907024"/>
            <a:ext cx="1069848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KEY TAKEAWAY  |  수리적 엄밀성과 제도적 감사 장치를 결합한 기관급(Institutional-Grade) 안정성 확보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50" b="1">
                <a:solidFill>
                  <a:srgbClr val="0052CC"/>
                </a:solidFill>
                <a:latin typeface="Malgun Gothic"/>
              </a:defRPr>
            </a:pPr>
            <a:r>
              <a:t>10. 향후 로드맵 및 결론  |  Future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기말 최종 완료를 향한 3단계 고도화 로드맵 및 프로젝트 결론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Ang, Azimbayev, &amp;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3547872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353312"/>
            <a:ext cx="3547872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554480"/>
            <a:ext cx="321868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1C2C"/>
                </a:solidFill>
                <a:latin typeface="Malgun Gothic"/>
              </a:defRPr>
            </a:pPr>
            <a:r>
              <a:t>Phase 1  |  현재 완료 (중간발표)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코어 파이프라인 및 웹 플랫폼 구축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▪ 18개 자산군 CMA 및 21개 PC 최적화 엔진 구현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▪ 수정 보르다 투표 및 역추적오차 앙상블 완성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▪ 완전 한글화 대시보드 및 외부 접속 터널 개통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353312"/>
            <a:ext cx="3547872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353312"/>
            <a:ext cx="3547872" cy="73152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54480"/>
            <a:ext cx="321868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52CC"/>
                </a:solidFill>
                <a:latin typeface="Malgun Gothic"/>
              </a:defRPr>
            </a:pPr>
            <a:r>
              <a:t>Phase 2  |  고도화 단계 (11월)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실시간 데이터 연동 및 하위 에이전트 분화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▪ FRED 거시 지표 및 Yahoo Finance 실시간 시세 연동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▪ 거시 에이전트의 통화·재정·지정학 하위 팀 분화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▪ 오프사이클 드리프트(±3%) 실시간 감지 알림 구현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1353312"/>
            <a:ext cx="3547872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353312"/>
            <a:ext cx="354787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554480"/>
            <a:ext cx="321868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9488"/>
                </a:solidFill>
                <a:latin typeface="Malgun Gothic"/>
              </a:defRPr>
            </a:pPr>
            <a:r>
              <a:t>Phase 3  |  최종 완성 (기말발표)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메타 에이전트 자가 학습 및 다중 LLM 실험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▪ 예측 오차 기반 코드·프롬프트 자가 수정 루프 구현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▪ 단일 모델 편향 극복을 위한 다중 LLM 비교 실험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▪ 최종 백테스팅 성과 검증 및 완결 보고서 제출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79392"/>
            <a:ext cx="11094415" cy="13258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62272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93C5FD"/>
                </a:solidFill>
                <a:latin typeface="Malgun Gothic"/>
              </a:defRPr>
            </a:pPr>
            <a:r>
              <a:t>"Agents shift the bottleneck in institutional investing from human bandwidth to human judgment."</a:t>
            </a:r>
          </a:p>
          <a:p>
            <a:pPr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기관 투자의 병목을 '인간의 작업 시간'에서 '인간의 고차원적 판단력'으로 전환하는 차세대 자산배분 플랫폼  |  Q &amp; 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806440"/>
            <a:ext cx="11094415" cy="4754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806440"/>
            <a:ext cx="91440" cy="47548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907024"/>
            <a:ext cx="1069848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KEY TAKEAWAY  |  웹 대시보드(http://localhost:5173) 및 외부 공유 링크를 통한 실시간 파이프라인 시연 준비 완료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