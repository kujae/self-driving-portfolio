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9728" cy="42062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1">
                <a:solidFill>
                  <a:srgbClr val="60A5FA"/>
                </a:solidFill>
                <a:latin typeface="Malgun Gothic"/>
              </a:defRPr>
            </a:pPr>
            <a:r>
              <a:t>INTERIM PROJECT PRESENTATION  |  중간발표 보고서</a:t>
            </a:r>
          </a:p>
          <a:p>
            <a:pPr>
              <a:lnSpc>
                <a:spcPct val="125000"/>
              </a:lnSpc>
              <a:spcAft>
                <a:spcPts val="1600"/>
              </a:spcAft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The Self-Driving Portfolio:</a:t>
            </a:r>
            <a:br/>
            <a:r>
              <a:t>기관 투자자를 위한 다중 자율 에이전트 자산배분 아키텍처</a:t>
            </a:r>
          </a:p>
          <a:p>
            <a:pPr>
              <a:defRPr sz="1500">
                <a:solidFill>
                  <a:srgbClr val="CBD5E1"/>
                </a:solidFill>
                <a:latin typeface="Malgun Gothic"/>
              </a:defRPr>
            </a:pPr>
            <a:r>
              <a:t>인간의 역할을 '반복적 분석 실행(Execution)'에서 '거버넌스 설계 및 감독(Oversight)'으로 격상시키는 차세대 SAA 시스템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572000"/>
            <a:ext cx="9966960" cy="1188720"/>
          </a:xfrm>
          <a:prstGeom prst="rect">
            <a:avLst/>
          </a:prstGeom>
          <a:solidFill>
            <a:srgbClr val="0C2A42"/>
          </a:solidFill>
          <a:ln>
            <a:solidFill>
              <a:srgbClr val="1E4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681728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t>• 기반 논문: The Self-Driving Portfolio: Agentic Architecture for Institutional Asset Management (Andrew Ang, Nazym Azimbayev, Andrey Kim, 2026)</a:t>
            </a:r>
          </a:p>
          <a:p>
            <a:pPr>
              <a:defRPr sz="1100">
                <a:solidFill>
                  <a:srgbClr val="BAE6FD"/>
                </a:solidFill>
                <a:latin typeface="Malgun Gothic"/>
              </a:defRPr>
            </a:pPr>
            <a:r>
              <a:t>• 시스템 범위: 50개 자율 에이전트 6단계 파이프라인 백엔드(FastAPI/Scipy) 및 실시간 거버넌스 웹 대시보드(React/TypeScript)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EXECUTIVE SUMMARY  |  논문의 핵심 주제의식 및 프로젝트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본 연구는 자산운용의 병목이 '데이터'가 아닌 '인간의 인지 한계'임을 규명하고, 자율 에이전트 심의 구조로 이를 해결합니다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61872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Andrew Ang, Nazym Azimbayev, &amp; Andrey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63040"/>
            <a:ext cx="2651760" cy="640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627632"/>
            <a:ext cx="239572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51C2C"/>
                </a:solidFill>
                <a:latin typeface="Malgun Gothic"/>
              </a:defRPr>
            </a:pPr>
            <a:r>
              <a:t>01  문제 정의: 인간의 인지 한계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Rational Inattention 극복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▪ 인지 용량의 병목</a:t>
            </a:r>
          </a:p>
          <a:p>
            <a:pPr>
              <a:lnSpc>
                <a:spcPct val="125000"/>
              </a:lnSpc>
              <a:spcBef>
                <a:spcPts val="3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기관 투자의 가장 큰 제약은 데이터나 수식이 아니라 인간 의사결정자의 유한한 시간과 주의력(Bandwidth)임.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▪ 단일 모델 의존 탈피</a:t>
            </a:r>
          </a:p>
          <a:p>
            <a:pPr>
              <a:lnSpc>
                <a:spcPct val="125000"/>
              </a:lnSpc>
              <a:spcBef>
                <a:spcPts val="3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인력 제약상 분기별 회의에서 단일 기법(MVO)만 검토하던 관행을 깨고, 50개 에이전트가 21개 최적화 기법을 동시 수행함.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2" y="146304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1463040"/>
            <a:ext cx="2651760" cy="6400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1627632"/>
            <a:ext cx="239572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52CC"/>
                </a:solidFill>
                <a:latin typeface="Malgun Gothic"/>
              </a:defRPr>
            </a:pPr>
            <a:r>
              <a:t>02  핵심 차별점: 구조화된 심의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연산과 판단의 분리 및 상호 검증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▪ 환각(Hallucination) 원천 차단</a:t>
            </a:r>
          </a:p>
          <a:p>
            <a:pPr>
              <a:lnSpc>
                <a:spcPct val="125000"/>
              </a:lnSpc>
              <a:spcBef>
                <a:spcPts val="3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모든 산술·최적화 연산은 Python 스크립트가 정밀 수행하고, LLM은 해석·비판·서술만 담당하도록 엄격히 분리함.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▪ 투자위원회 토론 프로토콜화</a:t>
            </a:r>
          </a:p>
          <a:p>
            <a:pPr>
              <a:lnSpc>
                <a:spcPct val="125000"/>
              </a:lnSpc>
              <a:spcBef>
                <a:spcPts val="3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에이전트들이 서로의 제안을 교차 심사(Peer Review)하고 수정 보르다 투표를 통해 집단 지성으로 최적안을 도출함.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46304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463040"/>
            <a:ext cx="265176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27632"/>
            <a:ext cx="239572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D9488"/>
                </a:solidFill>
                <a:latin typeface="Malgun Gothic"/>
              </a:defRPr>
            </a:pPr>
            <a:r>
              <a:t>03  혁신 기제: 소수의견과 자율탐색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집단 사고 방지 및 자기 진화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▪ 적대적 분산기(Adversarial)</a:t>
            </a:r>
          </a:p>
          <a:p>
            <a:pPr>
              <a:lnSpc>
                <a:spcPct val="125000"/>
              </a:lnSpc>
              <a:spcBef>
                <a:spcPts val="3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동료 투표에서 최하위(-36표)로 거부된 직교 포트폴리오를 2.7% 편입해, 컨센서스의 사각지대를 방어(Boosting 원리).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▪ 리서처 &amp; 메타 에이전트</a:t>
            </a:r>
          </a:p>
          <a:p>
            <a:pPr>
              <a:lnSpc>
                <a:spcPct val="125000"/>
              </a:lnSpc>
              <a:spcBef>
                <a:spcPts val="3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문헌에서 신규 기법(최대 엔트로피)을 스스로 발굴하고, 사후 성과 오차를 분석해 코드와 프롬프트를 자가 개선함.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7696" y="146304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97696" y="1463040"/>
            <a:ext cx="2651760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2" y="1627632"/>
            <a:ext cx="239572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45309"/>
                </a:solidFill>
                <a:latin typeface="Malgun Gothic"/>
              </a:defRPr>
            </a:pPr>
            <a:r>
              <a:t>04  거버넌스: 인간 역할의 격상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실행자에서 아키텍트(감독자)로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▪ 투자원칙보고서(IPS) 통제</a:t>
            </a:r>
          </a:p>
          <a:p>
            <a:pPr>
              <a:lnSpc>
                <a:spcPct val="125000"/>
              </a:lnSpc>
              <a:spcBef>
                <a:spcPts val="3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자율주행의 운행설계영역(ODD)처럼 인간이 작성한 IPS(변동성·MDD·추적오차 한도)가 모든 에이전트를 구속함.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▪ 수탁자 책임(Fiduciary) 충족</a:t>
            </a:r>
          </a:p>
          <a:p>
            <a:pPr>
              <a:lnSpc>
                <a:spcPct val="125000"/>
              </a:lnSpc>
              <a:spcBef>
                <a:spcPts val="3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모든 단계의 의사결정 근거와 반대 의견이 자연어 감사 증적(Board Memo)으로 기록되어 투명한 설명 가능성을 보장함.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806440"/>
            <a:ext cx="91440" cy="5029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879592"/>
            <a:ext cx="1069848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핵심 시사점 (Key Takeaway)  |  에이전틱 AI는 투자 전문가를 대체하는 것이 아니라, 분석 대역폭의 제약을 없애 인간이 고차원적 투자 정책(IPS)에 집중하게 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1. 연구 배경 및 문제 정의  |  Traditional vs. Agentic SAA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전통적 자산배분은 조직적·시간적 제약으로 인해 분석 범위가 협소하나, 자율 에이전트는 이를 전방위로 확장합니다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61872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Andrew Ang, Nazym Azimbayev, &amp; Andrey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6304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  <a:gridCol w="3840480"/>
                <a:gridCol w="1401775"/>
              </a:tblGrid>
              <a:tr h="685800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비교 차원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전통적 기관 자산배분 (Human-Led SAA)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자율주행 포트폴리오 (Agentic SAA)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혁신 효과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</a:tr>
              <a:tr h="6858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1000" b="1">
                          <a:solidFill>
                            <a:srgbClr val="051C2C"/>
                          </a:solidFill>
                          <a:latin typeface="Malgun Gothic"/>
                        </a:defRPr>
                      </a:pPr>
                      <a:r>
                        <a:t>분석 범위 및 규모</a:t>
                      </a:r>
                      <a:br/>
                      <a:r>
                        <a:t>(Scale &amp; Breadth)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80" b="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애널리스트 1인당 10~20개 자산 커버, 자산군별 CMA 산출에 수일~수주 소요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80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18개 자산군 에이전트가 각각 7개 CMA 모델을 수분 내에 병렬 산출 및 교차 검증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80" b="1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분석 대역폭</a:t>
                      </a:r>
                      <a:br/>
                      <a:r>
                        <a:t>10배 이상 확장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1000" b="1">
                          <a:solidFill>
                            <a:srgbClr val="051C2C"/>
                          </a:solidFill>
                          <a:latin typeface="Malgun Gothic"/>
                        </a:defRPr>
                      </a:pPr>
                      <a:r>
                        <a:t>포트폴리오 최적화</a:t>
                      </a:r>
                      <a:br/>
                      <a:r>
                        <a:t>(Optimization)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80" b="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시간 제약상 마코위츠 평균-분산(MVO) 등 단일 최적화 기법만 실행 후 민감도 분석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80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4대 학파 21개 최적화 알고리즘 동시 구동 + 리서처 에이전트의 신규 기법 자율 탐색</a:t>
                      </a:r>
                    </a:p>
                  </a:txBody>
                  <a:tcPr anchor="ctr">
                    <a:solidFill>
                      <a:srgbClr val="F5F9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80" b="1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모델 편향 제거</a:t>
                      </a:r>
                      <a:br/>
                      <a:r>
                        <a:t>다양성 확보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1000" b="1">
                          <a:solidFill>
                            <a:srgbClr val="051C2C"/>
                          </a:solidFill>
                          <a:latin typeface="Malgun Gothic"/>
                        </a:defRPr>
                      </a:pPr>
                      <a:r>
                        <a:t>의사결정 심의 방식</a:t>
                      </a:r>
                      <a:br/>
                      <a:r>
                        <a:t>(Deliberation)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80" b="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월간/분기별 투자위원회에서 몇 시간 구두 회의 후 차기 회의까지 비중 고정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80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42건의 무작위 피어 리뷰(Intra/Inter)와 수정 보르다 카운트 투표를 통한 정량·정성 합의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80" b="1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재현 가능한</a:t>
                      </a:r>
                      <a:br/>
                      <a:r>
                        <a:t>구조적 심의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1000" b="1">
                          <a:solidFill>
                            <a:srgbClr val="051C2C"/>
                          </a:solidFill>
                          <a:latin typeface="Malgun Gothic"/>
                        </a:defRPr>
                      </a:pPr>
                      <a:r>
                        <a:t>설명 가능성 및 감사</a:t>
                      </a:r>
                      <a:br/>
                      <a:r>
                        <a:t>(Audit Trail)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80" b="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최종 선정된 단일 포트폴리오 중심 보고서만 존재, 기각된 대안의 기록 부재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80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모든 에이전트의 추천 사유, 피어 비판, 소수 의견(Dissent)이 마크다운과 JSON으로 보존</a:t>
                      </a:r>
                    </a:p>
                  </a:txBody>
                  <a:tcPr anchor="ctr">
                    <a:solidFill>
                      <a:srgbClr val="F5F9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80" b="1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수탁자 책임</a:t>
                      </a:r>
                      <a:br/>
                      <a:r>
                        <a:t>100% 충족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1000" b="1">
                          <a:solidFill>
                            <a:srgbClr val="051C2C"/>
                          </a:solidFill>
                          <a:latin typeface="Malgun Gothic"/>
                        </a:defRPr>
                      </a:pPr>
                      <a:r>
                        <a:t>인간의 통제 방식</a:t>
                      </a:r>
                      <a:br/>
                      <a:r>
                        <a:t>(Human Control)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80" b="0">
                          <a:solidFill>
                            <a:srgbClr val="334155"/>
                          </a:solidFill>
                          <a:latin typeface="Malgun Gothic"/>
                        </a:defRPr>
                      </a:pPr>
                      <a:r>
                        <a:t>수익률 추정치와 최적화 파라미터를 직접 만지는 직접/파라미터 통제 (L0~L2)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80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투자원칙보고서(IPS)를 통해 목표와 위험 한도를 부여하는 목표 지향적 감독 (SAE L3~L4)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80" b="1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인간 역할의</a:t>
                      </a:r>
                      <a:br/>
                      <a:r>
                        <a:t>거버넌스 승격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806440"/>
            <a:ext cx="91440" cy="5029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69848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핵심 시사점 (Key Takeaway)  |  핵심은 단순 자동화가 아니라, 인간 조직이 물리적 시간 제약으로 수행할 수 없었던 '다중 방법론 간 경쟁과 상호 검증'을 제도화한 것입니다.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2. 시스템 아키텍처  |  6-Stage Agentic Pipeline &amp; Anatomy of SAA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투자원칙보고서(IPS)의 통제 아래 약 50개의 전문 에이전트가 6단계 파이프라인을 따라 유기적으로 협업합니다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61872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Andrew Ang, Nazym Azimbayev, &amp; Andrey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773936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1773936" cy="640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45336"/>
            <a:ext cx="159105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STEP 1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거시 국면 판정</a:t>
            </a:r>
            <a:br/>
            <a:r>
              <a:t>(Macro Agent)</a:t>
            </a:r>
          </a:p>
          <a:p>
            <a:pPr>
              <a:lnSpc>
                <a:spcPct val="120000"/>
              </a:lnSpc>
              <a:defRPr sz="919">
                <a:solidFill>
                  <a:srgbClr val="334155"/>
                </a:solidFill>
                <a:latin typeface="Malgun Gothic"/>
              </a:defRPr>
            </a:pPr>
            <a:r>
              <a:t>성장·물가·통화·금융여건 4대 지표를 점수화하여 현 경제 국면(Late-cycle 등) 분류 및 전파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14016" y="1417320"/>
            <a:ext cx="1773936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14016" y="1417320"/>
            <a:ext cx="1773936" cy="6400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05456" y="1545336"/>
            <a:ext cx="159105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2C59"/>
                </a:solidFill>
                <a:latin typeface="Malgun Gothic"/>
              </a:defRPr>
            </a:pPr>
            <a:r>
              <a:t>STEP 2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자산군 CMA 산출</a:t>
            </a:r>
            <a:br/>
            <a:r>
              <a:t>(18 AC Agents)</a:t>
            </a:r>
          </a:p>
          <a:p>
            <a:pPr>
              <a:lnSpc>
                <a:spcPct val="120000"/>
              </a:lnSpc>
              <a:defRPr sz="919">
                <a:solidFill>
                  <a:srgbClr val="334155"/>
                </a:solidFill>
                <a:latin typeface="Malgun Gothic"/>
              </a:defRPr>
            </a:pPr>
            <a:r>
              <a:t>18개 자산군별 6개 모델 + Auto-Blend 계산 후, LLM-as-Judge가 밸류에이션 보정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9392" y="1417320"/>
            <a:ext cx="1773936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1417320"/>
            <a:ext cx="1773936" cy="6400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1545336"/>
            <a:ext cx="159105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Malgun Gothic"/>
              </a:defRPr>
            </a:pPr>
            <a:r>
              <a:t>STEP 3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공분산 행렬 추정</a:t>
            </a:r>
            <a:br/>
            <a:r>
              <a:t>(Covariance Agent)</a:t>
            </a:r>
          </a:p>
          <a:p>
            <a:pPr>
              <a:lnSpc>
                <a:spcPct val="120000"/>
              </a:lnSpc>
              <a:defRPr sz="919">
                <a:solidFill>
                  <a:srgbClr val="334155"/>
                </a:solidFill>
                <a:latin typeface="Malgun Gothic"/>
              </a:defRPr>
            </a:pPr>
            <a:r>
              <a:t>거시 국면 스트레스를 반영하고 Ledoit-Wolf 축약(20%)으로 추정 오차 최소화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417320"/>
            <a:ext cx="1773936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417320"/>
            <a:ext cx="1773936" cy="6400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1545336"/>
            <a:ext cx="159105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Malgun Gothic"/>
              </a:defRPr>
            </a:pPr>
            <a:r>
              <a:t>STEP 4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포트폴리오 구성</a:t>
            </a:r>
            <a:br/>
            <a:r>
              <a:t>(21 PC Agents)</a:t>
            </a:r>
          </a:p>
          <a:p>
            <a:pPr>
              <a:lnSpc>
                <a:spcPct val="120000"/>
              </a:lnSpc>
              <a:defRPr sz="919">
                <a:solidFill>
                  <a:srgbClr val="334155"/>
                </a:solidFill>
                <a:latin typeface="Malgun Gothic"/>
              </a:defRPr>
            </a:pPr>
            <a:r>
              <a:t>휴리스틱·수익률·위험구조화·비전통적 4대 패밀리 + 리서처 + 적대적 분산기 병렬 실행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0144" y="1417320"/>
            <a:ext cx="1773936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0144" y="1417320"/>
            <a:ext cx="1773936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01584" y="1545336"/>
            <a:ext cx="159105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Malgun Gothic"/>
              </a:defRPr>
            </a:pPr>
            <a:r>
              <a:t>STEP 5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전략 심의 및 투표</a:t>
            </a:r>
            <a:br/>
            <a:r>
              <a:t>(CRO &amp; Referees)</a:t>
            </a:r>
          </a:p>
          <a:p>
            <a:pPr>
              <a:lnSpc>
                <a:spcPct val="120000"/>
              </a:lnSpc>
              <a:defRPr sz="919">
                <a:solidFill>
                  <a:srgbClr val="334155"/>
                </a:solidFill>
                <a:latin typeface="Malgun Gothic"/>
              </a:defRPr>
            </a:pPr>
            <a:r>
              <a:t>CRO의 독립 리스크/IPS 감사 후, 에이전트 간 42건 상호 피어 리뷰 및 보르다 투표 실시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19" y="1417320"/>
            <a:ext cx="1773936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75519" y="1417320"/>
            <a:ext cx="1773936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59" y="1545336"/>
            <a:ext cx="159105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B45309"/>
                </a:solidFill>
                <a:latin typeface="Malgun Gothic"/>
              </a:defRPr>
            </a:pPr>
            <a:r>
              <a:t>STEP 6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CIO 앙상블 &amp; 메모</a:t>
            </a:r>
            <a:br/>
            <a:r>
              <a:t>(CIO Meta-Agent)</a:t>
            </a:r>
          </a:p>
          <a:p>
            <a:pPr>
              <a:lnSpc>
                <a:spcPct val="120000"/>
              </a:lnSpc>
              <a:defRPr sz="919">
                <a:solidFill>
                  <a:srgbClr val="334155"/>
                </a:solidFill>
                <a:latin typeface="Malgun Gothic"/>
              </a:defRPr>
            </a:pPr>
            <a:r>
              <a:t>7개 결합 기법 중 역추적오차(Inverse TE) 앙상블로 최종 비중 확정 및 이사회 메모 작성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931920"/>
            <a:ext cx="11094415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931920"/>
            <a:ext cx="11094415" cy="640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0690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51C2C"/>
                </a:solidFill>
                <a:latin typeface="Malgun Gothic"/>
              </a:defRPr>
            </a:pPr>
            <a:r>
              <a:t>개별 에이전트의 4대 내부 구성요소 (Anatomy of SAA Agents — 연산과 추론의 엄격한 분리)</a:t>
            </a:r>
          </a:p>
          <a:p>
            <a:pPr>
              <a:spcBef>
                <a:spcPts val="300"/>
              </a:spcBef>
              <a:defRPr sz="980">
                <a:solidFill>
                  <a:srgbClr val="0F172A"/>
                </a:solidFill>
                <a:latin typeface="Malgun Gothic"/>
              </a:defRPr>
            </a:pPr>
            <a:r>
              <a:t>① 직무 기술서 (Description, .md): 에이전트의 역할, 파이프라인 내 위치, 입력 데이터 및 단계별 워크플로우를 정의한 자연어 명세서.</a:t>
            </a:r>
          </a:p>
          <a:p>
            <a:pPr>
              <a:spcBef>
                <a:spcPts val="300"/>
              </a:spcBef>
              <a:defRPr sz="980">
                <a:solidFill>
                  <a:srgbClr val="0F172A"/>
                </a:solidFill>
                <a:latin typeface="Malgun Gothic"/>
              </a:defRPr>
            </a:pPr>
            <a:r>
              <a:t>② 연산 스크립트 (Scripts, .py): LLM은 직접 사칙연산이나 최적화를 수행하지 않음. 모든 통계 계산과 수리 최적화는 검증된 Python 코드가 전담하여 수치 무결성 확보.</a:t>
            </a:r>
          </a:p>
          <a:p>
            <a:pPr>
              <a:spcBef>
                <a:spcPts val="300"/>
              </a:spcBef>
              <a:defRPr sz="980">
                <a:solidFill>
                  <a:srgbClr val="0F172A"/>
                </a:solidFill>
                <a:latin typeface="Malgun Gothic"/>
              </a:defRPr>
            </a:pPr>
            <a:r>
              <a:t>③ 공유 스킬 모듈 (Skills, SKILL.md): 거시 국면 분류법, CMA 심사 규칙 등 여러 에이전트가 공유하는 기관의 투자 방법론 지식 베이스.</a:t>
            </a:r>
          </a:p>
          <a:p>
            <a:pPr>
              <a:spcBef>
                <a:spcPts val="300"/>
              </a:spcBef>
              <a:defRPr sz="980">
                <a:solidFill>
                  <a:srgbClr val="0F172A"/>
                </a:solidFill>
                <a:latin typeface="Malgun Gothic"/>
              </a:defRPr>
            </a:pPr>
            <a:r>
              <a:t>④ 출력 계약 (Output Contract, .json &amp; .md): 후속 에이전트가 읽는 정형 JSON 스키마와 인간 감독관이 읽는 마크다운 감사 보고서를 동시에 생성.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806440"/>
            <a:ext cx="91440" cy="5029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879592"/>
            <a:ext cx="1069848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핵심 시사점 (Key Takeaway)  |  LLM이 계산을 직접 수행할 때 발생하는 산술 오류를 원천 배제하기 위해 'Python 스크립트(정밀 연산)'와 'LLM(해석·판단)'을 분업화했습니다.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3. 핵심 메커니즘 ①  |  Asset Class Agents &amp; LLM-as-Judge CMA Selection (Exhibit 4 &amp; 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자산군 에이전트는 7가지 기대수익률 후보를 산출하고, LLM 심사역이 고평가 자산에 선제적 밸류에이션 할인을 부과합니다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61872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Andrew Ang, Nazym Azimbayev, &amp; Andrey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420624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4206240" cy="6400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72768"/>
            <a:ext cx="3840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LLM-as-Judge 5단계 기대수익률 심사 프로토콜</a:t>
            </a:r>
          </a:p>
          <a:p>
            <a:pPr>
              <a:spcBef>
                <a:spcPts val="600"/>
              </a:spcBef>
              <a:defRPr sz="1050" b="1">
                <a:solidFill>
                  <a:srgbClr val="0052CC"/>
                </a:solidFill>
                <a:latin typeface="Malgun Gothic"/>
              </a:defRPr>
            </a:pPr>
            <a:r>
              <a:t>▪ Step 1. 추정치 간 편차(Dispersion) 진단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6개 기초 방법론 간 스프레드가 좁은지(&lt;3%p), 넓은지(&gt;6%p) 평가하여 불확실성 수준 파악.</a:t>
            </a:r>
          </a:p>
          <a:p>
            <a:pPr>
              <a:spcBef>
                <a:spcPts val="600"/>
              </a:spcBef>
              <a:defRPr sz="1050" b="1">
                <a:solidFill>
                  <a:srgbClr val="0052CC"/>
                </a:solidFill>
                <a:latin typeface="Malgun Gothic"/>
              </a:defRPr>
            </a:pPr>
            <a:r>
              <a:t>▪ Step 2. 거시 경제 국면 로직 적용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현재 '후기 사이클(스태그플레이션 위험)' 국면에 맞춰 단순 과거 평균 대신 국면 조정 및 밸류에이션 모델 비중 확대.</a:t>
            </a:r>
          </a:p>
          <a:p>
            <a:pPr>
              <a:spcBef>
                <a:spcPts val="600"/>
              </a:spcBef>
              <a:defRPr sz="1050" b="1">
                <a:solidFill>
                  <a:srgbClr val="0052CC"/>
                </a:solidFill>
                <a:latin typeface="Malgun Gothic"/>
              </a:defRPr>
            </a:pPr>
            <a:r>
              <a:t>▪ Step 3. 밸류에이션 멀티플(CAPE) 검증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CAPE &gt; 30배인 과열 자산은 밸류에이션 수축을 반영하는 역고든·내재ERP 모델로 강하게 틸트.</a:t>
            </a:r>
          </a:p>
          <a:p>
            <a:pPr>
              <a:spcBef>
                <a:spcPts val="600"/>
              </a:spcBef>
              <a:defRPr sz="1050" b="1">
                <a:solidFill>
                  <a:srgbClr val="0052CC"/>
                </a:solidFill>
                <a:latin typeface="Malgun Gothic"/>
              </a:defRPr>
            </a:pPr>
            <a:r>
              <a:t>▪ Step 4. 하드 제약조건(Hard Constraint) 강제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심사역의 최종 결정값은 반드시 6개 후보의 [최소값, 최대값] 범위 내에 위치해야 함 (임의적 수치 창작 금지).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389888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1C2C"/>
                </a:solidFill>
                <a:latin typeface="Malgun Gothic"/>
              </a:defRPr>
            </a:pPr>
            <a:r>
              <a:t>주식형 자산군 7개 모델별 기대수익률 추정치 및 LLM 심사역 최종 선정 결과 (연율 %, 3년 시계 — 논문 Exhibit 8)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937760" y="1737360"/>
          <a:ext cx="67052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658368"/>
                <a:gridCol w="658368"/>
                <a:gridCol w="658368"/>
                <a:gridCol w="658368"/>
                <a:gridCol w="658368"/>
                <a:gridCol w="694944"/>
                <a:gridCol w="694944"/>
                <a:gridCol w="697687"/>
              </a:tblGrid>
              <a:tr h="365760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자산군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역사적</a:t>
                      </a:r>
                      <a:br/>
                      <a:r>
                        <a:t>ERP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국면</a:t>
                      </a:r>
                      <a:br/>
                      <a:r>
                        <a:t>조정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BL</a:t>
                      </a:r>
                      <a:br/>
                      <a:r>
                        <a:t>균형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역고든</a:t>
                      </a:r>
                      <a:br/>
                      <a:r>
                        <a:t>모형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내재</a:t>
                      </a:r>
                      <a:br/>
                      <a:r>
                        <a:t>ERP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Auto</a:t>
                      </a:r>
                      <a:br/>
                      <a:r>
                        <a:t>Blend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심사역</a:t>
                      </a:r>
                      <a:br/>
                      <a:r>
                        <a:t>최종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조정폭</a:t>
                      </a:r>
                      <a:br/>
                      <a:r>
                        <a:t>(Δ)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</a:tr>
              <a:tr h="36576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미국 대형주 (CAPE 25x)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12.5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9.8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9.3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4.3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4.0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7.9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6.8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B91C1C"/>
                          </a:solidFill>
                          <a:latin typeface="Malgun Gothic"/>
                        </a:defRPr>
                      </a:pPr>
                      <a:r>
                        <a:t>-1.1%p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미국 성장주 (CAPE 31x)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13.3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10.0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9.7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3.5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3.2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8.2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6.2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B91C1C"/>
                          </a:solidFill>
                          <a:latin typeface="Malgun Gothic"/>
                        </a:defRPr>
                      </a:pPr>
                      <a:r>
                        <a:t>-2.0%p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미국 가치주 (CAPE 18x)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11.7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9.5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9.0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4.8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4.9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8.0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7.5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-0.5%p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미국 중소형주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12.1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9.8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10.2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4.1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5.6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8.2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0.0%p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선진국 주식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7.7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6.2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9.3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6.6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5.7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7.0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6.7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-0.3%p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신흥국 주식 (CAPE 13x)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10.9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9.2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10.4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5.3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6.9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8.2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-0.2%p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글로벌 리츠 (REITs)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12.1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11.2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8.7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7.1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3.4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8.5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0052CC"/>
                          </a:solidFill>
                          <a:latin typeface="Malgun Gothic"/>
                        </a:defRPr>
                      </a:pPr>
                      <a:r>
                        <a:t>8.3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-0.2%p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4937760" y="4773168"/>
            <a:ext cx="6705295" cy="85039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0" y="4773168"/>
            <a:ext cx="6705295" cy="640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4864608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algun Gothic"/>
              </a:defRPr>
            </a:pPr>
            <a:r>
              <a:t>분석 인사이트: 밸류에이션에 비례하는 선택적 할인 (Cross-Sectional Discipline)</a:t>
            </a:r>
            <a:br/>
            <a:r>
              <a:t>심사역은 일괄적인 비관론을 취하지 않습니다. 가장 고평가된 미국 성장주(CAPE 31배)에는 밸류에이션 모델에 60% 가중치를 두어 -2.0%p를 삭감한 반면, 저평가된 신흥국 주식(CAPE 13배)과 중소형주에는 과거 프리미엄을 그대로 인정했습니다.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806440"/>
            <a:ext cx="91440" cy="5029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879592"/>
            <a:ext cx="1069848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핵심 시사점 (Key Takeaway)  |  단순 공식 평균(Auto-Blend)에만 의존할 경우 과열된 성장주에 과도한 비중이 쏠리는 오류를 LLM 심사역이 사전에 차단합니다.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4. 핵심 메커니즘 ②  |  21 Portfolio Construction Agents &amp; Strategy Review (Exhibit 5 &amp; 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4대 학파 21개 최적화 에이전트가 경쟁하며, 교차 피어 리뷰와 수정 보르다 투표로 집단 지성 순위를 도출합니다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61872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Andrew Ang, Nazym Azimbayev, &amp; Andrey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475488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4754880" cy="640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43891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4대 포트폴리오 구성 학파 및 전략 심의 구조</a:t>
            </a:r>
          </a:p>
          <a:p>
            <a:pPr>
              <a:spcBef>
                <a:spcPts val="400"/>
              </a:spcBef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▪ A. 휴리스틱 (Heuristic, 5개)</a:t>
            </a:r>
          </a:p>
          <a:p>
            <a:pPr>
              <a:defRPr sz="919">
                <a:solidFill>
                  <a:srgbClr val="334155"/>
                </a:solidFill>
                <a:latin typeface="Malgun Gothic"/>
              </a:defRPr>
            </a:pPr>
            <a:r>
              <a:t>동일가중(1/N), 시가총액, 역변동성, 역분산, 변동성 타겟팅 — 추정 오차 회피</a:t>
            </a:r>
          </a:p>
          <a:p>
            <a:pPr>
              <a:spcBef>
                <a:spcPts val="400"/>
              </a:spcBef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▪ B. 수익률 최적화 (Return-Optimized, 5개)</a:t>
            </a:r>
          </a:p>
          <a:p>
            <a:pPr>
              <a:defRPr sz="919">
                <a:solidFill>
                  <a:srgbClr val="334155"/>
                </a:solidFill>
                <a:latin typeface="Malgun Gothic"/>
              </a:defRPr>
            </a:pPr>
            <a:r>
              <a:t>최대 샤프(MVO), 블랙-리터만, 로버스트 MV, 리샘플링, 하방위험(소르티노)</a:t>
            </a:r>
          </a:p>
          <a:p>
            <a:pPr>
              <a:spcBef>
                <a:spcPts val="400"/>
              </a:spcBef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▪ C. 위험 구조화 (Risk-Structured, 5개)</a:t>
            </a:r>
          </a:p>
          <a:p>
            <a:pPr>
              <a:defRPr sz="919">
                <a:solidFill>
                  <a:srgbClr val="334155"/>
                </a:solidFill>
                <a:latin typeface="Malgun Gothic"/>
              </a:defRPr>
            </a:pPr>
            <a:r>
              <a:t>글로벌 최소분산(GMV), 리스크 패리티(ERC), 계층적 위험균형(HRP), 최대 분산, 최소 상관</a:t>
            </a:r>
          </a:p>
          <a:p>
            <a:pPr>
              <a:spcBef>
                <a:spcPts val="400"/>
              </a:spcBef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▪ D/E. 비전통적 &amp; 특수 에이전트 (6개)</a:t>
            </a:r>
          </a:p>
          <a:p>
            <a:pPr>
              <a:defRPr sz="919">
                <a:solidFill>
                  <a:srgbClr val="334155"/>
                </a:solidFill>
                <a:latin typeface="Malgun Gothic"/>
              </a:defRPr>
            </a:pPr>
            <a:r>
              <a:t>CVaR, 최대낙폭 제약, 꼬리위험 패리티, 통합배분(TPA), 적대적 분산기, 최대 엔트로피(리서처)</a:t>
            </a:r>
          </a:p>
          <a:p>
            <a:br/>
            <a:pPr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[전략 심의 및 수정 보르다 투표 프로토콜]</a:t>
            </a:r>
            <a:br/>
            <a:r>
              <a:t>• 교차 피어 리뷰: 에이전트당 동일 학파 1개 + 타 학파 1개 무작위 심사 (총 42건)</a:t>
            </a:r>
            <a:br/>
            <a:r>
              <a:t>• 수정 보르다 투표: 상위 5개에 +5~+1점 부여, 최하위 1개에 -2점 감점 플래그</a:t>
            </a:r>
            <a:br/>
            <a:r>
              <a:t>• 다양성 제약: 상위 5개 후보군은 반드시 4대 학파 중 3개 이상을 포함해야 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389888"/>
            <a:ext cx="6126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1C2C"/>
                </a:solidFill>
                <a:latin typeface="Malgun Gothic"/>
              </a:defRPr>
            </a:pPr>
            <a:r>
              <a:t>21개 포트폴리오 최적화 에이전트 투표 및 종합 점수 순위 (논문 Exhibit 9 요약)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0" y="1737360"/>
          <a:ext cx="6156655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057400"/>
                <a:gridCol w="1417320"/>
                <a:gridCol w="685800"/>
                <a:gridCol w="731520"/>
                <a:gridCol w="761695"/>
              </a:tblGrid>
              <a:tr h="353290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순위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포트폴리오 구성 기법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소속 학파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보르다</a:t>
                      </a:r>
                      <a:br/>
                      <a:r>
                        <a:t>득표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정량</a:t>
                      </a:r>
                      <a:br/>
                      <a:r>
                        <a:t>점수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종합</a:t>
                      </a:r>
                      <a:br/>
                      <a:r>
                        <a:t>점수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</a:tr>
              <a:tr h="353290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최대 분산 (Max Diversification)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C: 위험구조화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1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+96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0.553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353290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블랙-리터만 (Black-Litterman)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B: 수익률최적화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1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+76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0.551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0.936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353290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리스크 패리티 (Risk Parity)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C: 위험구조화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0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+42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0.503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0.750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353290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계층적 위험균형 (HRP)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C: 위험구조화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0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+41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0.497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0.737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353290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꼬리위험 패리티 (Tail Risk Parity)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D: 비전통적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0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t>+22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0.510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0.702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353290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통합 포트폴리오 배분 (TPA)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D: 비전통적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+22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0.479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0.648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290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동일 가중 (Equal Weight 1/N)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A: 휴리스틱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+3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0.468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0.572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53290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최대 엔트로피 (PC-Researcher 발굴)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E: 자율탐색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+3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0.406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0.464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3290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CVaR 최소화 (CVaR Min)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D: 비전통적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-6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0.239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0.150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53300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적대적 분산기 (Adversarial)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D: 비전통적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1">
                          <a:solidFill>
                            <a:srgbClr val="B91C1C"/>
                          </a:solidFill>
                          <a:latin typeface="Malgun Gothic"/>
                        </a:defRPr>
                      </a:pPr>
                      <a:r>
                        <a:t>-36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0.205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0.000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806440"/>
            <a:ext cx="91440" cy="5029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879592"/>
            <a:ext cx="1069848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핵심 시사점 (Key Takeaway)  |  후기 사이클의 수익률 불확실성 국면에서는 기대수익률보다 공분산 구조에 기반한 '위험 구조화(C 학파)' 모델들이 압도적 지지를 받았습니다.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5. 핵심 메커니즘 ③  |  Adversarial Diversifier &amp; Autonomous PC-Researcher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다수결 합의의 함정을 피하기 위해 동료들에게 배척당한 '적대적 분산기'를 포용하고 신규 기법을 자율 발굴합니다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61872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Andrew Ang, Nazym Azimbayev, &amp; Andrey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539496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5394960" cy="640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020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B91C1C"/>
                </a:solidFill>
                <a:latin typeface="Malgun Gothic"/>
              </a:defRPr>
            </a:pPr>
            <a:r>
              <a:t>적대적 분산 에이전트 (Adversarial Diversifier)</a:t>
            </a:r>
            <a:br/>
            <a:r>
              <a:t>— '거부(Rejection)는 결함이 아니라 의도된 기능이다'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▪ 설계 목적 및 수리적 구조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초기 20개 에이전트들의 평균 가중치(Ensemble Centroid)로부터 추적 분산(Tracking Variance)을 극대화하되, 최소 샤프비율 하한선(최대 샤프의 75%)을 충족하도록 설계됨.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▪ 왜 동료 투표에서 -36표(21위 꼴찌)를 받았는가?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정의상 다른 모든 에이전트들의 합의와 가장 직교(Orthogonal)하는 자산을 선택하므로, 기존 18개 에이전트들이 자신의 학파 기준으로 최하위 플래그(-2점)를 부여함.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▪ 왜 CIO 에이전트는 2.7%의 비중을 배정했는가?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단독 지표(유효 자산수 2.4개, MDD -46.3%)로는 탈락 마땅하나, 앙상블에 소량 혼합할 경우 모델 간 가중치 중복을 줄이고 배분 스패닝 영역(Spanning Set)을 넓힘.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▪ 머신러닝 부스팅(Boosting)과의 상동성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개별 약한 학습기(Weak Learner)가 컨센서스와 다른 차원에서 오차를 낼 때 전체 앙상블의 강건성이 극대화되는 원리와 동일함 (Schapire 1990).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8095" y="1417320"/>
            <a:ext cx="539496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8095" y="1417320"/>
            <a:ext cx="539496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60020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0D9488"/>
                </a:solidFill>
                <a:latin typeface="Malgun Gothic"/>
              </a:defRPr>
            </a:pPr>
            <a:r>
              <a:t>자율 탐색 리서처 &amp; 자가 학습 메타 에이전트</a:t>
            </a:r>
            <a:br/>
            <a:r>
              <a:t>— 파이프라인의 자율적 지식 확장과 진화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▪ PC-리서처 에이전트 (PC-Researcher)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고정된 목적함수를 실행하는 대신 금융 학술 문헌을 탐색하여 현재 레지스트리에 없는 새로운 최적화 기법을 제안함.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▪ 최대 엔트로피(Maximum Entropy) 기법 발굴 및 편입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Bera &amp; Park (2008)의 섀넌 엔트로피 극대화 기법을 스스로 제안하여 샤프비율 0.41 달성. 동료 투표 11위를 거쳐 최종 CIO 앙상블에서 5.6%(전체 5위)의 높은 가중치를 부여받음.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▪ 자가 학습 메타 에이전트 (Self-Learning Meta-Agent)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리밸런싱 주기마다 과거 3년 롤링 윈도우의 예측치(국면 판정, 자산군 CMA)와 실제 실현 수익률을 대조하여 체계적 오차 원인을 추론함.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▪ 코드 및 프롬프트 자율 수정 (Supervisory Control)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단순 파라미터 재추정을 넘어 에이전트의 자연어 지침(.md)과 파이썬 코드(.py)를 직접 수정하고 변경 로그(Change Log)를 남겨 인간 감독관의 승인을 받음.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806440"/>
            <a:ext cx="91440" cy="5029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879592"/>
            <a:ext cx="1069848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핵심 시사점 (Key Takeaway)  |  적대적 분산기와 리서처 에이전트의 결합은 기존 퀀트 시스템이 갖지 못했던 '창발적 탐색(Exploration)'과 '꼬리위험 방어'를 동시에 달성합니다.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6. 실증 분석 결과  |  CIO Ensemble Synthesis &amp; Final Policy Portfolio (Exhibit 10 &amp; 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역추적오차 가중 앙상블로 도출된 최종 포트폴리오는 60/40 벤치마크 대비 최대 낙폭(MDD)을 8.7%p 대폭 축소합니다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61872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Andrew Ang, Nazym Azimbayev, &amp; Andrey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2194560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194560" cy="6400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27048"/>
            <a:ext cx="19751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기대 명목수익률</a:t>
            </a:r>
          </a:p>
          <a:p>
            <a:pPr>
              <a:spcBef>
                <a:spcPts val="200"/>
              </a:spcBef>
              <a:defRPr sz="1800" b="1">
                <a:solidFill>
                  <a:srgbClr val="0052CC"/>
                </a:solidFill>
                <a:latin typeface="Malgun Gothic"/>
              </a:defRPr>
            </a:pPr>
            <a:r>
              <a:t>6.87%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Malgun Gothic"/>
              </a:defRPr>
            </a:pPr>
            <a:r>
              <a:t>실질 수익률 +4.37%</a:t>
            </a:r>
            <a:br/>
            <a:r>
              <a:t>(IPS 목표 CPI+3~4% 달성)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1417320"/>
            <a:ext cx="2194560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0360" y="1417320"/>
            <a:ext cx="219456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1527048"/>
            <a:ext cx="19751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사전 연간 변동성</a:t>
            </a:r>
          </a:p>
          <a:p>
            <a:pPr>
              <a:spcBef>
                <a:spcPts val="200"/>
              </a:spcBef>
              <a:defRPr sz="1800" b="1">
                <a:solidFill>
                  <a:srgbClr val="0D9488"/>
                </a:solidFill>
                <a:latin typeface="Malgun Gothic"/>
              </a:defRPr>
            </a:pPr>
            <a:r>
              <a:t>7.54%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Malgun Gothic"/>
              </a:defRPr>
            </a:pPr>
            <a:r>
              <a:t>IPS 허용 밴드 [8~12%]</a:t>
            </a:r>
            <a:br/>
            <a:r>
              <a:t>하단 안정적 유지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2194560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2194560" cy="640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852928"/>
            <a:ext cx="19751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사전 추적오차 (TE)</a:t>
            </a:r>
          </a:p>
          <a:p>
            <a:pPr>
              <a:spcBef>
                <a:spcPts val="200"/>
              </a:spcBef>
              <a:defRPr sz="1800" b="1">
                <a:solidFill>
                  <a:srgbClr val="051C2C"/>
                </a:solidFill>
                <a:latin typeface="Malgun Gothic"/>
              </a:defRPr>
            </a:pPr>
            <a:r>
              <a:t>2.41%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Malgun Gothic"/>
              </a:defRPr>
            </a:pPr>
            <a:r>
              <a:t>60/40 벤치마크 대비</a:t>
            </a:r>
            <a:br/>
            <a:r>
              <a:t>IPS 한도(&lt;6.0%) 완벽 준수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2743200"/>
            <a:ext cx="2194560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0360" y="2743200"/>
            <a:ext cx="2194560" cy="640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0088" y="2852928"/>
            <a:ext cx="19751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백테스트 최대낙폭</a:t>
            </a:r>
          </a:p>
          <a:p>
            <a:pPr>
              <a:spcBef>
                <a:spcPts val="200"/>
              </a:spcBef>
              <a:defRPr sz="1800" b="1">
                <a:solidFill>
                  <a:srgbClr val="B91C1C"/>
                </a:solidFill>
                <a:latin typeface="Malgun Gothic"/>
              </a:defRPr>
            </a:pPr>
            <a:r>
              <a:t>-25.6%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Malgun Gothic"/>
              </a:defRPr>
            </a:pPr>
            <a:r>
              <a:t>60/40 벤치마크(-34.3%) 대비</a:t>
            </a:r>
            <a:br/>
            <a:r>
              <a:t>하방 손실 +8.7%p 방어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114800"/>
            <a:ext cx="452628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114800"/>
            <a:ext cx="4526280" cy="640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224528"/>
            <a:ext cx="4251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1C2C"/>
                </a:solidFill>
                <a:latin typeface="Malgun Gothic"/>
              </a:defRPr>
            </a:pPr>
            <a:r>
              <a:t>4대 자산군 슬리브(Sleeve) 배분 전략 요약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  <a:latin typeface="Malgun Gothic"/>
              </a:defRPr>
            </a:pPr>
            <a:r>
              <a:t>• 주식군 (44.9%): 벤치마크(60%) 대비 언더웨이트, 밸류에이션이 저렴한 선진국(15.9%) 틸트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  <a:latin typeface="Malgun Gothic"/>
              </a:defRPr>
            </a:pPr>
            <a:r>
              <a:t>• 채권군 (41.7%): 중기(14.7%)·장기국채(8.4%) 듀레이션 바벨 집중, 크레딧 스프레드(6.5%) 최소화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  <a:latin typeface="Malgun Gothic"/>
              </a:defRPr>
            </a:pPr>
            <a:r>
              <a:t>• 실물자산 (5.1%) &amp; 현금 (8.1%): 스태그플레이션 헤지용 금·원자재 및 고유동성 현금 버퍼 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1389888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1C2C"/>
                </a:solidFill>
                <a:latin typeface="Malgun Gothic"/>
              </a:defRPr>
            </a:pPr>
            <a:r>
              <a:t>18개 자산군 최종 정책 포트폴리오 비중 및 위험 기여도 (논문 Exhibit 11)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303520" y="1737360"/>
          <a:ext cx="6339535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25880"/>
                <a:gridCol w="1356055"/>
              </a:tblGrid>
              <a:tr h="388620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자산군 명칭 (Asset Class)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대분류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목표 비중 (%)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위험 기여도 (%)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</a:tr>
              <a:tr h="38862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선진국 주식 (Intl Developed)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주식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15.9%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29.8%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미국 중기국채 (Intermediate Treasuries)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채권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14.7%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미국 대형주 (US Large Cap)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주식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8.9%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15.3%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미국 장기국채 (Long-Term Treasuries)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채권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현금성 자산 (Cash)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현금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8.1%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미국 단기국채 (Short-Term Treasuries)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채권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미국 가치주 (US Value)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주식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7.2%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11.9%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신흥국 주식 (Emerging Markets)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주식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4.9%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기타 10개 위성 자산 합계 (금, IG/HY, 리츠 등)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복합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24.6%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>
                        <a:defRPr sz="919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26.0%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91440" cy="5029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879592"/>
            <a:ext cx="1069848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핵심 시사점 (Key Takeaway)  |  유효 자산수(Meucci Effective N) 11.2개를 기록하며 특정 자산 쏠림 없이 고도로 분산된 전천후 포트폴리오가 완성되었습니다.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7. 거버넌스 및 통제 프레임워크  |  Moving Up the Abstraction Ladder &amp; IPS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인간은 개별 모델을 조작하는 대신 투자원칙보고서(IPS)를 통해 자율주행의 운행설계영역(ODD)을 통제합니다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61872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Andrew Ang, Nazym Azimbayev, &amp; Andrey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3547872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3547872" cy="640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563624"/>
            <a:ext cx="325526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1C2C"/>
                </a:solidFill>
                <a:latin typeface="Malgun Gothic"/>
              </a:defRPr>
            </a:pPr>
            <a:r>
              <a:t>IPS 제1계층: 투자 유니버스 규정</a:t>
            </a:r>
          </a:p>
          <a:p>
            <a:pPr>
              <a:spcAft>
                <a:spcPts val="800"/>
              </a:spcAft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Permissible Asset Universe</a:t>
            </a:r>
          </a:p>
          <a:p>
            <a:pPr>
              <a:spcBef>
                <a:spcPts val="4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▪ 상장지수펀드(ETF)로 즉시 거래 가능한 18개 고유동성 자산군 지정 (주식 6, 채권 8, 대체·현금 4).</a:t>
            </a:r>
          </a:p>
          <a:p>
            <a:pPr>
              <a:spcBef>
                <a:spcPts val="4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▪ 비유동성 자산이나 승인되지 않은 파생상품으로의 에이전트 이탈을 원천 봉쇄.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417320"/>
            <a:ext cx="3547872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417320"/>
            <a:ext cx="3547872" cy="6400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563624"/>
            <a:ext cx="325526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2CC"/>
                </a:solidFill>
                <a:latin typeface="Malgun Gothic"/>
              </a:defRPr>
            </a:pPr>
            <a:r>
              <a:t>IPS 제2계층: 수익 목표 및 절대 위험 한도</a:t>
            </a:r>
          </a:p>
          <a:p>
            <a:pPr>
              <a:spcAft>
                <a:spcPts val="800"/>
              </a:spcAft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Return Objective &amp; Risk Bounds</a:t>
            </a:r>
          </a:p>
          <a:p>
            <a:pPr>
              <a:spcBef>
                <a:spcPts val="4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▪ 목표 실질 수익률: CPI + 3.0 ~ 4.0% 달성.</a:t>
            </a:r>
          </a:p>
          <a:p>
            <a:pPr>
              <a:spcBef>
                <a:spcPts val="4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▪ 예상 변동성 허용 밴드: 연 8.0% ~ 12.0%.</a:t>
            </a:r>
          </a:p>
          <a:p>
            <a:pPr>
              <a:spcBef>
                <a:spcPts val="4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▪ 최대 허용 낙폭(MDD) 한도: 고점 대비 -25.0% 이내로 엄격 제한.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1417320"/>
            <a:ext cx="3547872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417320"/>
            <a:ext cx="3547872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63624"/>
            <a:ext cx="325526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Malgun Gothic"/>
              </a:defRPr>
            </a:pPr>
            <a:r>
              <a:t>IPS 제3계층: 액티브 위험 예산 및 트리거</a:t>
            </a:r>
          </a:p>
          <a:p>
            <a:pPr>
              <a:spcAft>
                <a:spcPts val="800"/>
              </a:spcAft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Active Risk Budget &amp; Drift Triggers</a:t>
            </a:r>
          </a:p>
          <a:p>
            <a:pPr>
              <a:spcBef>
                <a:spcPts val="4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▪ 60/40 벤치마크 대비 사전 추적오차(Ex-ante Tracking Error) 6.0% 초과 금지.</a:t>
            </a:r>
          </a:p>
          <a:p>
            <a:pPr>
              <a:spcBef>
                <a:spcPts val="4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▪ 오프사이클 리밸런싱 트리거: 개별 자산이 목표치 대비 ±3.0% 이탈 시 즉시 자율 재실행 및 보고.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11094415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11094415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77639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51C2C"/>
                </a:solidFill>
                <a:latin typeface="Malgun Gothic"/>
              </a:defRPr>
            </a:pPr>
            <a:r>
              <a:t>통제 추상화 사다리(Control Abstraction Ladder)와 이사회 거버넌스 메모 (Board Memo)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자율주행 수준 조절의 유연성 (Policy Choice): 아키텍처 변경 없이 IPS의 추적오차 한도를 조이거나 자산별 하한선(Floor)을 부여하면 감독 통제(L2~L3)가 되고, 범위를 완화하면 완전 목표 지향 자율화(L4~L5)로 작동합니다.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CIO 이사회 메모를 통한 루프 완성: CIO 에이전트는 단순 비중 숫자가 아니라 '왜 이 포트폴리오가 선택되었고, 어떤 가정이 깨지면 무효화되는지'를 비전문가 이사진도 읽고 반박할 수 있는 거버넌스 문서(Board Memo)로 제출합니다.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806440"/>
            <a:ext cx="91440" cy="5029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879592"/>
            <a:ext cx="1069848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핵심 시사점 (Key Takeaway)  |  기존 기관 투자자의 법적 필수 문서인 IPS를 그대로 자율 에이전트의 통제 경계선으로 재활용하므로 별도의 규제 인프라를 새로 만들 필요가 없습니다.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8. 웹 플랫폼 구축 현황  |  Full-Stack Web Application &amp; Interactive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논문의 6단계 파이프라인을 실시간으로 조작하고 검증할 수 있는 한국어 풀스택 웹 플랫폼을 구축 완료했습니다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61872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Andrew Ang, Nazym Azimbayev, &amp; Andrey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3547872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3547872" cy="640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581912"/>
            <a:ext cx="32552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051C2C"/>
                </a:solidFill>
                <a:latin typeface="Malgun Gothic"/>
              </a:defRPr>
            </a:pPr>
            <a:r>
              <a:t>백엔드 아키텍처 (FastAPI &amp; Scipy)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✔ 실시간 API 서버 구축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FastAPI 기반 RESTful 엔드포인트(/api/pipeline/run 등) 및 단일 포트 리버스 프록시 연동 완료.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✔ 21개 수리 최적화 솔버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Scipy SLSQP 및 Numpy 기반으로 4대 학파 21개 최적화 알고리즘(최대 엔트로피·적대적 분산 포함) 실제 수식 구현.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✔ CRO &amp; CIO 감사 엔진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Meucci 유효 자산수, VaR/CVaR, IPS 위반 여부 자동 검사 및 한국어 이사회 메모 동적 생성.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417320"/>
            <a:ext cx="3547872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417320"/>
            <a:ext cx="3547872" cy="6400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581912"/>
            <a:ext cx="32552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0052CC"/>
                </a:solidFill>
                <a:latin typeface="Malgun Gothic"/>
              </a:defRPr>
            </a:pPr>
            <a:r>
              <a:t>프론트엔드 대시보드 (React &amp; Tailwind)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✔ Tab 1. 최종 배분안 및 성과 진단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대자산군 도넛 차트, 60/40 벤치마크 대비 성과 비교 바 차트, 18개 자산군 목표 비중 및 위험 기여도 테이블.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✔ Tab 2. 전략 심의 및 보르다 투표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21개 모델 보르다 득표/정량/종합 순위표, 학파별 필터링, 적대적 분산기 하이라이트 및 42건 피어 리뷰 피드.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✔ Tab 3 &amp; 4. CMA 심사 및 이사회 메모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7개 CMA 후보 모델 비교표, LLM 심사역 밸류에이션 할인 근거, 인쇄/복사 가능한 공식 이사회 승인 보고서.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1417320"/>
            <a:ext cx="3547872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417320"/>
            <a:ext cx="3547872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81912"/>
            <a:ext cx="32552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0D9488"/>
                </a:solidFill>
                <a:latin typeface="Malgun Gothic"/>
              </a:defRPr>
            </a:pPr>
            <a:r>
              <a:t>라이브 시연 시나리오 (Interactive UX)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✔ 6단계 파이프라인 스테퍼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상단 오케스트레이션 바를 클릭하여 각 에이전트 단계별 상태와 핵심 지표를 직관적으로 탐색.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✔ 실시간 IPS 파라미터 모달 제어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사용자가 목표 실질수익률, 변동성 밴드, MDD 한도, 자율주행 레벨(L2~L5)을 변경 후 즉시 재연산 가능.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✔ 외부 공개 HTTPS 터널링 지원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발표장 내 모바일/태블릿 및 외부 네트워크 어디서나 즉시 접속 가능한 보안 웹 링크 개통 완료.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806440"/>
            <a:ext cx="91440" cy="5029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1069848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핵심 시사점 (Key Takeaway)  |  이론적 개념 제시에 그치지 않고, 실제 투자위원회가 웹 브라우저에서 IPS를 조정하며 에이전트 심의를 감독할 수 있는 작동 시스템으로 구현했습니다.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9. 주요 리스크 요인 및 통제 방안  |  Risk Analysis &amp; Institutional Safeguards (Section 5.1)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LLM 기반 금융 시스템이 직면하는 4대 구조적 리스크를 정의하고, 아키텍처 차원의 안전장치를 마련했습니다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61872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Andrew Ang, Nazym Azimbayev, &amp; Andrey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5468112" cy="19933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5468112" cy="6400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554480"/>
            <a:ext cx="5175504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052CC"/>
                </a:solidFill>
                <a:latin typeface="Malgun Gothic"/>
              </a:defRPr>
            </a:pPr>
            <a:r>
              <a:t>리스크 1. 수치 환각 및 연산 오류 (Numerical Hallucination)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Malgun Gothic"/>
              </a:defRPr>
            </a:pPr>
            <a:r>
              <a:t>• 문제점: LLM이 직접 확률이나 최적화 수식을 계산할 경우 가중치 합이 100%가 되지 않거나 부정확한 역행렬을 산출할 위험.</a:t>
            </a:r>
          </a:p>
          <a:p>
            <a:pPr>
              <a:defRPr sz="980" b="1">
                <a:solidFill>
                  <a:srgbClr val="0F172A"/>
                </a:solidFill>
                <a:latin typeface="Malgun Gothic"/>
              </a:defRPr>
            </a:pPr>
            <a:r>
              <a:t>• 통제 설계: 철저한 역할 분리(Script Separation): 모든 산술·통계·최적화는 Python 스크립트가 수행하고, LLM은 범위 제약([min, max]) 내에서만 선택하도록 강제.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468112" cy="19933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468112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554480"/>
            <a:ext cx="5175504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D9488"/>
                </a:solidFill>
                <a:latin typeface="Malgun Gothic"/>
              </a:defRPr>
            </a:pPr>
            <a:r>
              <a:t>리스크 2. 단일 모델 편향 (LLM Monoculture)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Malgun Gothic"/>
              </a:defRPr>
            </a:pPr>
            <a:r>
              <a:t>• 문제점: 21개 PC 에이전트와 CIO가 동일한 기반 언어모델(Base LLM)을 공유할 경우, 예상치 못한 방향의 판단 오류가 상호 상관될 위험.</a:t>
            </a:r>
          </a:p>
          <a:p>
            <a:pPr>
              <a:defRPr sz="980" b="1">
                <a:solidFill>
                  <a:srgbClr val="0F172A"/>
                </a:solidFill>
                <a:latin typeface="Malgun Gothic"/>
              </a:defRPr>
            </a:pPr>
            <a:r>
              <a:t>• 통제 설계: 이종 목적함수 및 적대적 분산기 결합: 서로 다른 수리적 최적화 목적함수와 결정론적 솔버를 혼용하고, 컨센서스에 반하는 적대적 분산기로 편향 상쇄.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66160"/>
            <a:ext cx="5468112" cy="19933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66160"/>
            <a:ext cx="5468112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3703320"/>
            <a:ext cx="5175504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B45309"/>
                </a:solidFill>
                <a:latin typeface="Malgun Gothic"/>
              </a:defRPr>
            </a:pPr>
            <a:r>
              <a:t>리스크 3. 백테스트 사전 정보 유출 (Lookahead Bias)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Malgun Gothic"/>
              </a:defRPr>
            </a:pPr>
            <a:r>
              <a:t>• 문제점: 인터넷 대규모 코퍼스로 학습된 LLM은 이미 과거 금융 시장 결과를 기억하고 있어, 과거 시점 백테스트 시 클린한 표본 외 검증이 어려움.</a:t>
            </a:r>
          </a:p>
          <a:p>
            <a:pPr>
              <a:defRPr sz="980" b="1">
                <a:solidFill>
                  <a:srgbClr val="0F172A"/>
                </a:solidFill>
                <a:latin typeface="Malgun Gothic"/>
              </a:defRPr>
            </a:pPr>
            <a:r>
              <a:t>• 통제 설계: 실시간 프로덕션(Live Run) 중심 평가 및 시점 제한 모델(DatedGPT) 활용 가능성 명시: 과거 수치 계산은 순수 통계 스크립트만 수행하도록 격리.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566160"/>
            <a:ext cx="5468112" cy="19933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566160"/>
            <a:ext cx="5468112" cy="640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3703320"/>
            <a:ext cx="5175504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B91C1C"/>
                </a:solidFill>
                <a:latin typeface="Malgun Gothic"/>
              </a:defRPr>
            </a:pPr>
            <a:r>
              <a:t>리스크 4. 자동화 안주 현상 (Automation Surprise)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Malgun Gothic"/>
              </a:defRPr>
            </a:pPr>
            <a:r>
              <a:t>• 문제점: 인간 투자위원회가 에이전트의 이사회 메모를 비판적 검토 없이 거수기(Rubber-stamp)처럼 승인하여 상황 인식을 상실할 위험.</a:t>
            </a:r>
          </a:p>
          <a:p>
            <a:pPr>
              <a:defRPr sz="980" b="1">
                <a:solidFill>
                  <a:srgbClr val="0F172A"/>
                </a:solidFill>
                <a:latin typeface="Malgun Gothic"/>
              </a:defRPr>
            </a:pPr>
            <a:r>
              <a:t>• 통제 설계: 핵심 가정 무효화 조건(Invalidation Triggers) 및 소수 반대 의견(Dissent Report) 의무 기재, 메타 에이전트 코드 수정에 대한 샌드박스 및 인간 승인 강제.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806440"/>
            <a:ext cx="91440" cy="5029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879592"/>
            <a:ext cx="1069848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핵심 시사점 (Key Takeaway)  |  기술적 낙관론에 치우치지 않고, 논문 5절에서 제기된 금융·보안·거버넌스 리스크를 아키텍처 설계에 직접 반영하여 신뢰성을 높였습니다.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10. 향후 로드맵 및 결론  |  Future Milestones &amp; Concluding Remarks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기말 최종 발표까지 실시간 시장 데이터 스트리밍과 메타 에이전트 자가 학습 루프를 완성할 계획입니다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61872"/>
            <a:ext cx="11094415" cy="1828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Malgun Gothic"/>
              </a:defRPr>
            </a:pPr>
            <a:r>
              <a:t>Source: Andrew Ang, Nazym Azimbayev, &amp; Andrey Kim (2026), 'The Self-Driving Portfolio: Agentic Architecture for Institutional Asset Management'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74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51C2C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3547872" cy="2651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3547872" cy="640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581912"/>
            <a:ext cx="325526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1C2C"/>
                </a:solidFill>
                <a:latin typeface="Malgun Gothic"/>
              </a:defRPr>
            </a:pPr>
            <a:r>
              <a:t>Phase 1  |  현재 완료 (중간발표)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코어 아키텍처 및 한글 웹 대시보드 구축</a:t>
            </a:r>
          </a:p>
          <a:p>
            <a:pPr>
              <a:spcBef>
                <a:spcPts val="5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▪ 18개 자산군 CMA 및 21개 PC 최적화 엔진 구축 완료</a:t>
            </a:r>
          </a:p>
          <a:p>
            <a:pPr>
              <a:spcBef>
                <a:spcPts val="5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▪ 수정 보르다 투표 및 CRO/CIO 앙상블 파이프라인 완성</a:t>
            </a:r>
          </a:p>
          <a:p>
            <a:pPr>
              <a:spcBef>
                <a:spcPts val="5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▪ 인터랙티브 IPS 제어 및 완전 한글화 웹 UI 배포 완료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417320"/>
            <a:ext cx="3547872" cy="2651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417320"/>
            <a:ext cx="3547872" cy="6400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581912"/>
            <a:ext cx="325526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Phase 2  |  고도화 단계 (11월)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실시간 데이터 API 연동 및 하위 에이전트 분화</a:t>
            </a:r>
          </a:p>
          <a:p>
            <a:pPr>
              <a:spcBef>
                <a:spcPts val="5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▪ FRED 거시 지표 및 Yahoo Finance ETF 실시간 시세 자동 연동</a:t>
            </a:r>
          </a:p>
          <a:p>
            <a:pPr>
              <a:spcBef>
                <a:spcPts val="5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▪ 거시 에이전트를 통화·재정·지정학 전문 하위 에이전트 팀으로 세분화 (논문 5.4절 반영)</a:t>
            </a:r>
          </a:p>
          <a:p>
            <a:pPr>
              <a:spcBef>
                <a:spcPts val="5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▪ 오프사이클 드리프트(±3%) 실시간 알림 시뮬레이터 추가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1417320"/>
            <a:ext cx="3547872" cy="2651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417320"/>
            <a:ext cx="3547872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81912"/>
            <a:ext cx="325526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Malgun Gothic"/>
              </a:defRPr>
            </a:pPr>
            <a:r>
              <a:t>Phase 3  |  최종 완성 (기말발표)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메타 에이전트 자가 학습 및 다중 LLM 검증</a:t>
            </a:r>
          </a:p>
          <a:p>
            <a:pPr>
              <a:spcBef>
                <a:spcPts val="5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▪ 예측 오차 피드백 기반 프롬프트·코드 자가 수정(Meta-Agent) 루프 및 Change Log 뷰어 구현</a:t>
            </a:r>
          </a:p>
          <a:p>
            <a:pPr>
              <a:spcBef>
                <a:spcPts val="5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▪ 단일 모델 편향 방지를 위한 다중 파운데이션 모델 비교 실험</a:t>
            </a:r>
          </a:p>
          <a:p>
            <a:pPr>
              <a:spcBef>
                <a:spcPts val="500"/>
              </a:spcBef>
              <a:defRPr sz="980">
                <a:solidFill>
                  <a:srgbClr val="334155"/>
                </a:solidFill>
                <a:latin typeface="Malgun Gothic"/>
              </a:defRPr>
            </a:pPr>
            <a:r>
              <a:t>▪ 최종 종합 성과 검증 및 프로젝트 완결 보고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97680"/>
            <a:ext cx="11094415" cy="13716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62272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93C5FD"/>
                </a:solidFill>
                <a:latin typeface="Malgun Gothic"/>
              </a:defRPr>
            </a:pPr>
            <a:r>
              <a:t>"Agents shift the bottleneck in institutional investing from human bandwidth to human judgment — a shift that elevates rather than diminishes the role of the investment professional."</a:t>
            </a:r>
          </a:p>
          <a:p>
            <a:pPr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자율 에이전트는 기관 투자의 병목을 '인간의 작업 시간'에서 '인간의 고차원적 판단력'으로 이동시키며, 투자 전문가의 위상을 한 단계 격상시킵니다.  |  경청해 주셔서 감사합니다. (Q&amp;A)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806440"/>
            <a:ext cx="91440" cy="5029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69848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핵심 시사점 (Key Takeaway)  |  웹 대시보드 데모(http://localhost:5173) 및 외부 공유 링크를 통해 지금 바로 자율 에이전트 파이프라인을 체험하실 수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